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21374100" cy="30276800"/>
  <p:notesSz cx="6858000" cy="9144000"/>
  <p:embeddedFontLst>
    <p:embeddedFont>
      <p:font typeface="阿里巴巴普惠体 - 粗体 Bold" charset="1" panose="00020600040101010101"/>
      <p:regular r:id="rId7"/>
    </p:embeddedFont>
    <p:embeddedFont>
      <p:font typeface="Montserrat Classic" charset="1" panose="00000500000000000000"/>
      <p:regular r:id="rId8"/>
    </p:embeddedFont>
    <p:embeddedFont>
      <p:font typeface="Montserrat Classic Bold" charset="1" panose="00000800000000000000"/>
      <p:regular r:id="rId9"/>
    </p:embeddedFont>
    <p:embeddedFont>
      <p:font typeface="字由点字倔强黑" charset="1" panose="00020600040101010101"/>
      <p:regular r:id="rId1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media/image11.png" Type="http://schemas.openxmlformats.org/officeDocument/2006/relationships/image"/><Relationship Id="rId13" Target="../media/image12.png" Type="http://schemas.openxmlformats.org/officeDocument/2006/relationships/image"/><Relationship Id="rId14" Target="../media/image13.png" Type="http://schemas.openxmlformats.org/officeDocument/2006/relationships/image"/><Relationship Id="rId15" Target="../media/image14.png" Type="http://schemas.openxmlformats.org/officeDocument/2006/relationships/image"/><Relationship Id="rId16" Target="../media/image15.png" Type="http://schemas.openxmlformats.org/officeDocument/2006/relationships/image"/><Relationship Id="rId17" Target="../media/image16.png" Type="http://schemas.openxmlformats.org/officeDocument/2006/relationships/image"/><Relationship Id="rId18" Target="../media/image17.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415439">
            <a:off x="19222381" y="27172890"/>
            <a:ext cx="3015527" cy="4143477"/>
          </a:xfrm>
          <a:custGeom>
            <a:avLst/>
            <a:gdLst/>
            <a:ahLst/>
            <a:cxnLst/>
            <a:rect r="r" b="b" t="t" l="l"/>
            <a:pathLst>
              <a:path h="4143477" w="3015527">
                <a:moveTo>
                  <a:pt x="0" y="0"/>
                </a:moveTo>
                <a:lnTo>
                  <a:pt x="3015527" y="0"/>
                </a:lnTo>
                <a:lnTo>
                  <a:pt x="3015527" y="4143478"/>
                </a:lnTo>
                <a:lnTo>
                  <a:pt x="0" y="41434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36733" y="23064138"/>
            <a:ext cx="10920838" cy="854538"/>
            <a:chOff x="0" y="0"/>
            <a:chExt cx="1947643" cy="152400"/>
          </a:xfrm>
        </p:grpSpPr>
        <p:sp>
          <p:nvSpPr>
            <p:cNvPr name="Freeform 4" id="4"/>
            <p:cNvSpPr/>
            <p:nvPr/>
          </p:nvSpPr>
          <p:spPr>
            <a:xfrm flipH="false" flipV="false" rot="0">
              <a:off x="0" y="0"/>
              <a:ext cx="1947643" cy="152400"/>
            </a:xfrm>
            <a:custGeom>
              <a:avLst/>
              <a:gdLst/>
              <a:ahLst/>
              <a:cxnLst/>
              <a:rect r="r" b="b" t="t" l="l"/>
              <a:pathLst>
                <a:path h="152400" w="1947643">
                  <a:moveTo>
                    <a:pt x="0" y="0"/>
                  </a:moveTo>
                  <a:lnTo>
                    <a:pt x="1947643" y="0"/>
                  </a:lnTo>
                  <a:lnTo>
                    <a:pt x="1947643" y="152400"/>
                  </a:lnTo>
                  <a:lnTo>
                    <a:pt x="0" y="152400"/>
                  </a:lnTo>
                  <a:close/>
                </a:path>
              </a:pathLst>
            </a:custGeom>
            <a:solidFill>
              <a:srgbClr val="F7C85D"/>
            </a:solidFill>
          </p:spPr>
        </p:sp>
      </p:grpSp>
      <p:grpSp>
        <p:nvGrpSpPr>
          <p:cNvPr name="Group 5" id="5"/>
          <p:cNvGrpSpPr/>
          <p:nvPr/>
        </p:nvGrpSpPr>
        <p:grpSpPr>
          <a:xfrm rot="0">
            <a:off x="890160" y="6006608"/>
            <a:ext cx="10465865" cy="854538"/>
            <a:chOff x="0" y="0"/>
            <a:chExt cx="1866502" cy="152400"/>
          </a:xfrm>
        </p:grpSpPr>
        <p:sp>
          <p:nvSpPr>
            <p:cNvPr name="Freeform 6" id="6"/>
            <p:cNvSpPr/>
            <p:nvPr/>
          </p:nvSpPr>
          <p:spPr>
            <a:xfrm flipH="false" flipV="false" rot="0">
              <a:off x="0" y="0"/>
              <a:ext cx="1866502" cy="152400"/>
            </a:xfrm>
            <a:custGeom>
              <a:avLst/>
              <a:gdLst/>
              <a:ahLst/>
              <a:cxnLst/>
              <a:rect r="r" b="b" t="t" l="l"/>
              <a:pathLst>
                <a:path h="152400" w="1866502">
                  <a:moveTo>
                    <a:pt x="0" y="0"/>
                  </a:moveTo>
                  <a:lnTo>
                    <a:pt x="1866502" y="0"/>
                  </a:lnTo>
                  <a:lnTo>
                    <a:pt x="1866502" y="152400"/>
                  </a:lnTo>
                  <a:lnTo>
                    <a:pt x="0" y="152400"/>
                  </a:lnTo>
                  <a:close/>
                </a:path>
              </a:pathLst>
            </a:custGeom>
            <a:solidFill>
              <a:srgbClr val="5271FF"/>
            </a:solidFill>
          </p:spPr>
        </p:sp>
      </p:grpSp>
      <p:sp>
        <p:nvSpPr>
          <p:cNvPr name="AutoShape 7" id="7"/>
          <p:cNvSpPr/>
          <p:nvPr/>
        </p:nvSpPr>
        <p:spPr>
          <a:xfrm rot="0">
            <a:off x="890306" y="2751998"/>
            <a:ext cx="19641613" cy="0"/>
          </a:xfrm>
          <a:prstGeom prst="line">
            <a:avLst/>
          </a:prstGeom>
          <a:ln cap="flat" w="57150">
            <a:solidFill>
              <a:srgbClr val="8C52FF"/>
            </a:solidFill>
            <a:prstDash val="solid"/>
            <a:headEnd type="none" len="sm" w="sm"/>
            <a:tailEnd type="none" len="sm" w="sm"/>
          </a:ln>
        </p:spPr>
      </p:sp>
      <p:sp>
        <p:nvSpPr>
          <p:cNvPr name="TextBox 8" id="8"/>
          <p:cNvSpPr txBox="true"/>
          <p:nvPr/>
        </p:nvSpPr>
        <p:spPr>
          <a:xfrm rot="0">
            <a:off x="4679074" y="787718"/>
            <a:ext cx="12357087" cy="1964280"/>
          </a:xfrm>
          <a:prstGeom prst="rect">
            <a:avLst/>
          </a:prstGeom>
        </p:spPr>
        <p:txBody>
          <a:bodyPr anchor="t" rtlCol="false" tIns="0" lIns="0" bIns="0" rIns="0">
            <a:spAutoFit/>
          </a:bodyPr>
          <a:lstStyle/>
          <a:p>
            <a:pPr algn="ctr">
              <a:lnSpc>
                <a:spcPts val="16157"/>
              </a:lnSpc>
            </a:pPr>
            <a:r>
              <a:rPr lang="en-US" b="true" sz="11541">
                <a:solidFill>
                  <a:srgbClr val="FF5757"/>
                </a:solidFill>
                <a:latin typeface="阿里巴巴普惠体 - 粗体 Bold"/>
                <a:ea typeface="阿里巴巴普惠体 - 粗体 Bold"/>
                <a:cs typeface="阿里巴巴普惠体 - 粗体 Bold"/>
                <a:sym typeface="阿里巴巴普惠体 - 粗体 Bold"/>
              </a:rPr>
              <a:t>F   B   TI   S</a:t>
            </a:r>
          </a:p>
        </p:txBody>
      </p:sp>
      <p:sp>
        <p:nvSpPr>
          <p:cNvPr name="Freeform 9" id="9"/>
          <p:cNvSpPr/>
          <p:nvPr/>
        </p:nvSpPr>
        <p:spPr>
          <a:xfrm flipH="false" flipV="false" rot="0">
            <a:off x="9967848" y="1151797"/>
            <a:ext cx="1448305" cy="1445672"/>
          </a:xfrm>
          <a:custGeom>
            <a:avLst/>
            <a:gdLst/>
            <a:ahLst/>
            <a:cxnLst/>
            <a:rect r="r" b="b" t="t" l="l"/>
            <a:pathLst>
              <a:path h="1445672" w="1448305">
                <a:moveTo>
                  <a:pt x="0" y="0"/>
                </a:moveTo>
                <a:lnTo>
                  <a:pt x="1448304" y="0"/>
                </a:lnTo>
                <a:lnTo>
                  <a:pt x="1448304" y="1445671"/>
                </a:lnTo>
                <a:lnTo>
                  <a:pt x="0" y="14456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0">
            <a:off x="8171726" y="241147"/>
            <a:ext cx="2685891" cy="2197547"/>
          </a:xfrm>
          <a:custGeom>
            <a:avLst/>
            <a:gdLst/>
            <a:ahLst/>
            <a:cxnLst/>
            <a:rect r="r" b="b" t="t" l="l"/>
            <a:pathLst>
              <a:path h="2197547" w="2685891">
                <a:moveTo>
                  <a:pt x="2685891" y="0"/>
                </a:moveTo>
                <a:lnTo>
                  <a:pt x="0" y="0"/>
                </a:lnTo>
                <a:lnTo>
                  <a:pt x="0" y="2197547"/>
                </a:lnTo>
                <a:lnTo>
                  <a:pt x="2685891" y="2197547"/>
                </a:lnTo>
                <a:lnTo>
                  <a:pt x="268589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2543542" y="1268552"/>
            <a:ext cx="1096943" cy="1212162"/>
          </a:xfrm>
          <a:custGeom>
            <a:avLst/>
            <a:gdLst/>
            <a:ahLst/>
            <a:cxnLst/>
            <a:rect r="r" b="b" t="t" l="l"/>
            <a:pathLst>
              <a:path h="1212162" w="1096943">
                <a:moveTo>
                  <a:pt x="0" y="0"/>
                </a:moveTo>
                <a:lnTo>
                  <a:pt x="1096943" y="0"/>
                </a:lnTo>
                <a:lnTo>
                  <a:pt x="1096943" y="1212162"/>
                </a:lnTo>
                <a:lnTo>
                  <a:pt x="0" y="1212162"/>
                </a:lnTo>
                <a:lnTo>
                  <a:pt x="0" y="0"/>
                </a:lnTo>
                <a:close/>
              </a:path>
            </a:pathLst>
          </a:custGeom>
          <a:blipFill>
            <a:blip r:embed="rId8"/>
            <a:stretch>
              <a:fillRect l="0" t="0" r="0" b="0"/>
            </a:stretch>
          </a:blipFill>
        </p:spPr>
      </p:sp>
      <p:sp>
        <p:nvSpPr>
          <p:cNvPr name="Freeform 12" id="12"/>
          <p:cNvSpPr/>
          <p:nvPr/>
        </p:nvSpPr>
        <p:spPr>
          <a:xfrm flipH="false" flipV="false" rot="0">
            <a:off x="8833492" y="24281214"/>
            <a:ext cx="2208871" cy="2834156"/>
          </a:xfrm>
          <a:custGeom>
            <a:avLst/>
            <a:gdLst/>
            <a:ahLst/>
            <a:cxnLst/>
            <a:rect r="r" b="b" t="t" l="l"/>
            <a:pathLst>
              <a:path h="2834156" w="2208871">
                <a:moveTo>
                  <a:pt x="0" y="0"/>
                </a:moveTo>
                <a:lnTo>
                  <a:pt x="2208870" y="0"/>
                </a:lnTo>
                <a:lnTo>
                  <a:pt x="2208870" y="2834156"/>
                </a:lnTo>
                <a:lnTo>
                  <a:pt x="0" y="2834156"/>
                </a:lnTo>
                <a:lnTo>
                  <a:pt x="0" y="0"/>
                </a:lnTo>
                <a:close/>
              </a:path>
            </a:pathLst>
          </a:custGeom>
          <a:blipFill>
            <a:blip r:embed="rId9"/>
            <a:stretch>
              <a:fillRect l="0" t="0" r="0" b="0"/>
            </a:stretch>
          </a:blipFill>
        </p:spPr>
      </p:sp>
      <p:sp>
        <p:nvSpPr>
          <p:cNvPr name="Freeform 13" id="13"/>
          <p:cNvSpPr/>
          <p:nvPr/>
        </p:nvSpPr>
        <p:spPr>
          <a:xfrm flipH="false" flipV="false" rot="-5400000">
            <a:off x="8944237" y="26796283"/>
            <a:ext cx="2351912" cy="3593577"/>
          </a:xfrm>
          <a:custGeom>
            <a:avLst/>
            <a:gdLst/>
            <a:ahLst/>
            <a:cxnLst/>
            <a:rect r="r" b="b" t="t" l="l"/>
            <a:pathLst>
              <a:path h="3593577" w="2351912">
                <a:moveTo>
                  <a:pt x="0" y="0"/>
                </a:moveTo>
                <a:lnTo>
                  <a:pt x="2351912" y="0"/>
                </a:lnTo>
                <a:lnTo>
                  <a:pt x="2351912" y="3593577"/>
                </a:lnTo>
                <a:lnTo>
                  <a:pt x="0" y="3593577"/>
                </a:lnTo>
                <a:lnTo>
                  <a:pt x="0" y="0"/>
                </a:lnTo>
                <a:close/>
              </a:path>
            </a:pathLst>
          </a:custGeom>
          <a:blipFill>
            <a:blip r:embed="rId10"/>
            <a:stretch>
              <a:fillRect l="0" t="0" r="0" b="0"/>
            </a:stretch>
          </a:blipFill>
        </p:spPr>
      </p:sp>
      <p:sp>
        <p:nvSpPr>
          <p:cNvPr name="Freeform 14" id="14"/>
          <p:cNvSpPr/>
          <p:nvPr/>
        </p:nvSpPr>
        <p:spPr>
          <a:xfrm flipH="false" flipV="false" rot="0">
            <a:off x="9173123" y="18168909"/>
            <a:ext cx="2182902" cy="2735150"/>
          </a:xfrm>
          <a:custGeom>
            <a:avLst/>
            <a:gdLst/>
            <a:ahLst/>
            <a:cxnLst/>
            <a:rect r="r" b="b" t="t" l="l"/>
            <a:pathLst>
              <a:path h="2735150" w="2182902">
                <a:moveTo>
                  <a:pt x="0" y="0"/>
                </a:moveTo>
                <a:lnTo>
                  <a:pt x="2182902" y="0"/>
                </a:lnTo>
                <a:lnTo>
                  <a:pt x="2182902" y="2735150"/>
                </a:lnTo>
                <a:lnTo>
                  <a:pt x="0" y="2735150"/>
                </a:lnTo>
                <a:lnTo>
                  <a:pt x="0" y="0"/>
                </a:lnTo>
                <a:close/>
              </a:path>
            </a:pathLst>
          </a:custGeom>
          <a:blipFill>
            <a:blip r:embed="rId11"/>
            <a:stretch>
              <a:fillRect l="0" t="0" r="0" b="0"/>
            </a:stretch>
          </a:blipFill>
        </p:spPr>
      </p:sp>
      <p:sp>
        <p:nvSpPr>
          <p:cNvPr name="Freeform 15" id="15"/>
          <p:cNvSpPr/>
          <p:nvPr/>
        </p:nvSpPr>
        <p:spPr>
          <a:xfrm flipH="false" flipV="false" rot="0">
            <a:off x="8604748" y="16244595"/>
            <a:ext cx="3872753" cy="1791148"/>
          </a:xfrm>
          <a:custGeom>
            <a:avLst/>
            <a:gdLst/>
            <a:ahLst/>
            <a:cxnLst/>
            <a:rect r="r" b="b" t="t" l="l"/>
            <a:pathLst>
              <a:path h="1791148" w="3872753">
                <a:moveTo>
                  <a:pt x="0" y="0"/>
                </a:moveTo>
                <a:lnTo>
                  <a:pt x="3872753" y="0"/>
                </a:lnTo>
                <a:lnTo>
                  <a:pt x="3872753" y="1791148"/>
                </a:lnTo>
                <a:lnTo>
                  <a:pt x="0" y="1791148"/>
                </a:lnTo>
                <a:lnTo>
                  <a:pt x="0" y="0"/>
                </a:lnTo>
                <a:close/>
              </a:path>
            </a:pathLst>
          </a:custGeom>
          <a:blipFill>
            <a:blip r:embed="rId12"/>
            <a:stretch>
              <a:fillRect l="0" t="0" r="0" b="0"/>
            </a:stretch>
          </a:blipFill>
        </p:spPr>
      </p:sp>
      <p:sp>
        <p:nvSpPr>
          <p:cNvPr name="Freeform 16" id="16"/>
          <p:cNvSpPr/>
          <p:nvPr/>
        </p:nvSpPr>
        <p:spPr>
          <a:xfrm flipH="false" flipV="false" rot="0">
            <a:off x="13164834" y="3971503"/>
            <a:ext cx="7236663" cy="5427498"/>
          </a:xfrm>
          <a:custGeom>
            <a:avLst/>
            <a:gdLst/>
            <a:ahLst/>
            <a:cxnLst/>
            <a:rect r="r" b="b" t="t" l="l"/>
            <a:pathLst>
              <a:path h="5427498" w="7236663">
                <a:moveTo>
                  <a:pt x="0" y="0"/>
                </a:moveTo>
                <a:lnTo>
                  <a:pt x="7236664" y="0"/>
                </a:lnTo>
                <a:lnTo>
                  <a:pt x="7236664" y="5427498"/>
                </a:lnTo>
                <a:lnTo>
                  <a:pt x="0" y="5427498"/>
                </a:lnTo>
                <a:lnTo>
                  <a:pt x="0" y="0"/>
                </a:lnTo>
                <a:close/>
              </a:path>
            </a:pathLst>
          </a:custGeom>
          <a:blipFill>
            <a:blip r:embed="rId13"/>
            <a:stretch>
              <a:fillRect l="0" t="0" r="0" b="0"/>
            </a:stretch>
          </a:blipFill>
        </p:spPr>
      </p:sp>
      <p:sp>
        <p:nvSpPr>
          <p:cNvPr name="Freeform 17" id="17"/>
          <p:cNvSpPr/>
          <p:nvPr/>
        </p:nvSpPr>
        <p:spPr>
          <a:xfrm flipH="false" flipV="false" rot="0">
            <a:off x="8680561" y="21104084"/>
            <a:ext cx="3826981" cy="1772371"/>
          </a:xfrm>
          <a:custGeom>
            <a:avLst/>
            <a:gdLst/>
            <a:ahLst/>
            <a:cxnLst/>
            <a:rect r="r" b="b" t="t" l="l"/>
            <a:pathLst>
              <a:path h="1772371" w="3826981">
                <a:moveTo>
                  <a:pt x="0" y="0"/>
                </a:moveTo>
                <a:lnTo>
                  <a:pt x="3826981" y="0"/>
                </a:lnTo>
                <a:lnTo>
                  <a:pt x="3826981" y="1772371"/>
                </a:lnTo>
                <a:lnTo>
                  <a:pt x="0" y="1772371"/>
                </a:lnTo>
                <a:lnTo>
                  <a:pt x="0" y="0"/>
                </a:lnTo>
                <a:close/>
              </a:path>
            </a:pathLst>
          </a:custGeom>
          <a:blipFill>
            <a:blip r:embed="rId14"/>
            <a:stretch>
              <a:fillRect l="0" t="0" r="0" b="0"/>
            </a:stretch>
          </a:blipFill>
        </p:spPr>
      </p:sp>
      <p:sp>
        <p:nvSpPr>
          <p:cNvPr name="Freeform 18" id="18"/>
          <p:cNvSpPr/>
          <p:nvPr/>
        </p:nvSpPr>
        <p:spPr>
          <a:xfrm flipH="false" flipV="false" rot="0">
            <a:off x="8627793" y="7013546"/>
            <a:ext cx="4316617" cy="3590086"/>
          </a:xfrm>
          <a:custGeom>
            <a:avLst/>
            <a:gdLst/>
            <a:ahLst/>
            <a:cxnLst/>
            <a:rect r="r" b="b" t="t" l="l"/>
            <a:pathLst>
              <a:path h="3590086" w="4316617">
                <a:moveTo>
                  <a:pt x="0" y="0"/>
                </a:moveTo>
                <a:lnTo>
                  <a:pt x="4316617" y="0"/>
                </a:lnTo>
                <a:lnTo>
                  <a:pt x="4316617" y="3590086"/>
                </a:lnTo>
                <a:lnTo>
                  <a:pt x="0" y="3590086"/>
                </a:lnTo>
                <a:lnTo>
                  <a:pt x="0" y="0"/>
                </a:lnTo>
                <a:close/>
              </a:path>
            </a:pathLst>
          </a:custGeom>
          <a:blipFill>
            <a:blip r:embed="rId15"/>
            <a:stretch>
              <a:fillRect l="0" t="0" r="0" b="0"/>
            </a:stretch>
          </a:blipFill>
        </p:spPr>
      </p:sp>
      <p:sp>
        <p:nvSpPr>
          <p:cNvPr name="Freeform 19" id="19"/>
          <p:cNvSpPr/>
          <p:nvPr/>
        </p:nvSpPr>
        <p:spPr>
          <a:xfrm flipH="false" flipV="false" rot="0">
            <a:off x="8617342" y="12762963"/>
            <a:ext cx="2168760" cy="3233938"/>
          </a:xfrm>
          <a:custGeom>
            <a:avLst/>
            <a:gdLst/>
            <a:ahLst/>
            <a:cxnLst/>
            <a:rect r="r" b="b" t="t" l="l"/>
            <a:pathLst>
              <a:path h="3233938" w="2168760">
                <a:moveTo>
                  <a:pt x="0" y="0"/>
                </a:moveTo>
                <a:lnTo>
                  <a:pt x="2168760" y="0"/>
                </a:lnTo>
                <a:lnTo>
                  <a:pt x="2168760" y="3233938"/>
                </a:lnTo>
                <a:lnTo>
                  <a:pt x="0" y="3233938"/>
                </a:lnTo>
                <a:lnTo>
                  <a:pt x="0" y="0"/>
                </a:lnTo>
                <a:close/>
              </a:path>
            </a:pathLst>
          </a:custGeom>
          <a:blipFill>
            <a:blip r:embed="rId16"/>
            <a:stretch>
              <a:fillRect l="0" t="0" r="0" b="0"/>
            </a:stretch>
          </a:blipFill>
        </p:spPr>
      </p:sp>
      <p:sp>
        <p:nvSpPr>
          <p:cNvPr name="Freeform 20" id="20"/>
          <p:cNvSpPr/>
          <p:nvPr/>
        </p:nvSpPr>
        <p:spPr>
          <a:xfrm flipH="false" flipV="false" rot="0">
            <a:off x="8833492" y="10802851"/>
            <a:ext cx="3861878" cy="1798187"/>
          </a:xfrm>
          <a:custGeom>
            <a:avLst/>
            <a:gdLst/>
            <a:ahLst/>
            <a:cxnLst/>
            <a:rect r="r" b="b" t="t" l="l"/>
            <a:pathLst>
              <a:path h="1798187" w="3861878">
                <a:moveTo>
                  <a:pt x="0" y="0"/>
                </a:moveTo>
                <a:lnTo>
                  <a:pt x="3861878" y="0"/>
                </a:lnTo>
                <a:lnTo>
                  <a:pt x="3861878" y="1798187"/>
                </a:lnTo>
                <a:lnTo>
                  <a:pt x="0" y="1798187"/>
                </a:lnTo>
                <a:lnTo>
                  <a:pt x="0" y="0"/>
                </a:lnTo>
                <a:close/>
              </a:path>
            </a:pathLst>
          </a:custGeom>
          <a:blipFill>
            <a:blip r:embed="rId17"/>
            <a:stretch>
              <a:fillRect l="0" t="0" r="0" b="0"/>
            </a:stretch>
          </a:blipFill>
        </p:spPr>
      </p:sp>
      <p:sp>
        <p:nvSpPr>
          <p:cNvPr name="Freeform 21" id="21"/>
          <p:cNvSpPr/>
          <p:nvPr/>
        </p:nvSpPr>
        <p:spPr>
          <a:xfrm flipH="false" flipV="false" rot="0">
            <a:off x="10983299" y="12753438"/>
            <a:ext cx="1775339" cy="3324084"/>
          </a:xfrm>
          <a:custGeom>
            <a:avLst/>
            <a:gdLst/>
            <a:ahLst/>
            <a:cxnLst/>
            <a:rect r="r" b="b" t="t" l="l"/>
            <a:pathLst>
              <a:path h="3324084" w="1775339">
                <a:moveTo>
                  <a:pt x="0" y="0"/>
                </a:moveTo>
                <a:lnTo>
                  <a:pt x="1775340" y="0"/>
                </a:lnTo>
                <a:lnTo>
                  <a:pt x="1775340" y="3324084"/>
                </a:lnTo>
                <a:lnTo>
                  <a:pt x="0" y="3324084"/>
                </a:lnTo>
                <a:lnTo>
                  <a:pt x="0" y="0"/>
                </a:lnTo>
                <a:close/>
              </a:path>
            </a:pathLst>
          </a:custGeom>
          <a:blipFill>
            <a:blip r:embed="rId18"/>
            <a:stretch>
              <a:fillRect l="0" t="0" r="0" b="0"/>
            </a:stretch>
          </a:blipFill>
        </p:spPr>
      </p:sp>
      <p:sp>
        <p:nvSpPr>
          <p:cNvPr name="TextBox 22" id="22"/>
          <p:cNvSpPr txBox="true"/>
          <p:nvPr/>
        </p:nvSpPr>
        <p:spPr>
          <a:xfrm rot="0">
            <a:off x="1082734" y="275986"/>
            <a:ext cx="5053814" cy="519912"/>
          </a:xfrm>
          <a:prstGeom prst="rect">
            <a:avLst/>
          </a:prstGeom>
        </p:spPr>
        <p:txBody>
          <a:bodyPr anchor="t" rtlCol="false" tIns="0" lIns="0" bIns="0" rIns="0">
            <a:spAutoFit/>
          </a:bodyPr>
          <a:lstStyle/>
          <a:p>
            <a:pPr algn="l">
              <a:lnSpc>
                <a:spcPts val="4038"/>
              </a:lnSpc>
            </a:pPr>
            <a:r>
              <a:rPr lang="en-US" sz="3365">
                <a:solidFill>
                  <a:srgbClr val="464D50"/>
                </a:solidFill>
                <a:latin typeface="Montserrat Classic"/>
                <a:ea typeface="Montserrat Classic"/>
                <a:cs typeface="Montserrat Classic"/>
                <a:sym typeface="Montserrat Classic"/>
              </a:rPr>
              <a:t>Group 5</a:t>
            </a:r>
          </a:p>
        </p:txBody>
      </p:sp>
      <p:sp>
        <p:nvSpPr>
          <p:cNvPr name="TextBox 23" id="23"/>
          <p:cNvSpPr txBox="true"/>
          <p:nvPr/>
        </p:nvSpPr>
        <p:spPr>
          <a:xfrm rot="0">
            <a:off x="406915" y="23141289"/>
            <a:ext cx="11959133" cy="690074"/>
          </a:xfrm>
          <a:prstGeom prst="rect">
            <a:avLst/>
          </a:prstGeom>
        </p:spPr>
        <p:txBody>
          <a:bodyPr anchor="t" rtlCol="false" tIns="0" lIns="0" bIns="0" rIns="0">
            <a:spAutoFit/>
          </a:bodyPr>
          <a:lstStyle/>
          <a:p>
            <a:pPr algn="ctr">
              <a:lnSpc>
                <a:spcPts val="5308"/>
              </a:lnSpc>
            </a:pPr>
            <a:r>
              <a:rPr lang="en-US" b="true" sz="4915">
                <a:solidFill>
                  <a:srgbClr val="FFFFFF"/>
                </a:solidFill>
                <a:latin typeface="Montserrat Classic Bold"/>
                <a:ea typeface="Montserrat Classic Bold"/>
                <a:cs typeface="Montserrat Classic Bold"/>
                <a:sym typeface="Montserrat Classic Bold"/>
              </a:rPr>
              <a:t>Automatic Racing Car (ARC)</a:t>
            </a:r>
          </a:p>
        </p:txBody>
      </p:sp>
      <p:sp>
        <p:nvSpPr>
          <p:cNvPr name="TextBox 24" id="24"/>
          <p:cNvSpPr txBox="true"/>
          <p:nvPr/>
        </p:nvSpPr>
        <p:spPr>
          <a:xfrm rot="0">
            <a:off x="13705070" y="299846"/>
            <a:ext cx="6772032" cy="424567"/>
          </a:xfrm>
          <a:prstGeom prst="rect">
            <a:avLst/>
          </a:prstGeom>
        </p:spPr>
        <p:txBody>
          <a:bodyPr anchor="t" rtlCol="false" tIns="0" lIns="0" bIns="0" rIns="0">
            <a:spAutoFit/>
          </a:bodyPr>
          <a:lstStyle/>
          <a:p>
            <a:pPr algn="r">
              <a:lnSpc>
                <a:spcPts val="3552"/>
              </a:lnSpc>
            </a:pPr>
            <a:r>
              <a:rPr lang="en-US" sz="2537">
                <a:solidFill>
                  <a:srgbClr val="464D50"/>
                </a:solidFill>
                <a:latin typeface="Montserrat Classic"/>
                <a:ea typeface="Montserrat Classic"/>
                <a:cs typeface="Montserrat Classic"/>
                <a:sym typeface="Montserrat Classic"/>
              </a:rPr>
              <a:t>Robot Design Contest</a:t>
            </a:r>
          </a:p>
        </p:txBody>
      </p:sp>
      <p:sp>
        <p:nvSpPr>
          <p:cNvPr name="TextBox 25" id="25"/>
          <p:cNvSpPr txBox="true"/>
          <p:nvPr/>
        </p:nvSpPr>
        <p:spPr>
          <a:xfrm rot="0">
            <a:off x="13164834" y="18687864"/>
            <a:ext cx="6741944" cy="684045"/>
          </a:xfrm>
          <a:prstGeom prst="rect">
            <a:avLst/>
          </a:prstGeom>
        </p:spPr>
        <p:txBody>
          <a:bodyPr anchor="t" rtlCol="false" tIns="0" lIns="0" bIns="0" rIns="0">
            <a:spAutoFit/>
          </a:bodyPr>
          <a:lstStyle/>
          <a:p>
            <a:pPr algn="l">
              <a:lnSpc>
                <a:spcPts val="5275"/>
              </a:lnSpc>
            </a:pPr>
            <a:r>
              <a:rPr lang="en-US" b="true" sz="4884">
                <a:solidFill>
                  <a:srgbClr val="004AAD"/>
                </a:solidFill>
                <a:latin typeface="Montserrat Classic Bold"/>
                <a:ea typeface="Montserrat Classic Bold"/>
                <a:cs typeface="Montserrat Classic Bold"/>
                <a:sym typeface="Montserrat Classic Bold"/>
              </a:rPr>
              <a:t>TEAM EVALUATION</a:t>
            </a:r>
          </a:p>
        </p:txBody>
      </p:sp>
      <p:sp>
        <p:nvSpPr>
          <p:cNvPr name="TextBox 26" id="26"/>
          <p:cNvSpPr txBox="true"/>
          <p:nvPr/>
        </p:nvSpPr>
        <p:spPr>
          <a:xfrm rot="0">
            <a:off x="890160" y="9459100"/>
            <a:ext cx="5492655" cy="433203"/>
          </a:xfrm>
          <a:prstGeom prst="rect">
            <a:avLst/>
          </a:prstGeom>
        </p:spPr>
        <p:txBody>
          <a:bodyPr anchor="t" rtlCol="false" tIns="0" lIns="0" bIns="0" rIns="0">
            <a:spAutoFit/>
          </a:bodyPr>
          <a:lstStyle/>
          <a:p>
            <a:pPr algn="l">
              <a:lnSpc>
                <a:spcPts val="3289"/>
              </a:lnSpc>
            </a:pPr>
            <a:r>
              <a:rPr lang="en-US" sz="3045" b="true">
                <a:solidFill>
                  <a:srgbClr val="464D50"/>
                </a:solidFill>
                <a:latin typeface="Montserrat Classic Bold"/>
                <a:ea typeface="Montserrat Classic Bold"/>
                <a:cs typeface="Montserrat Classic Bold"/>
                <a:sym typeface="Montserrat Classic Bold"/>
              </a:rPr>
              <a:t>Loading Mechanism</a:t>
            </a:r>
          </a:p>
        </p:txBody>
      </p:sp>
      <p:sp>
        <p:nvSpPr>
          <p:cNvPr name="TextBox 27" id="27"/>
          <p:cNvSpPr txBox="true"/>
          <p:nvPr/>
        </p:nvSpPr>
        <p:spPr>
          <a:xfrm rot="0">
            <a:off x="921855" y="14420108"/>
            <a:ext cx="6668800" cy="428804"/>
          </a:xfrm>
          <a:prstGeom prst="rect">
            <a:avLst/>
          </a:prstGeom>
        </p:spPr>
        <p:txBody>
          <a:bodyPr anchor="t" rtlCol="false" tIns="0" lIns="0" bIns="0" rIns="0">
            <a:spAutoFit/>
          </a:bodyPr>
          <a:lstStyle/>
          <a:p>
            <a:pPr algn="l">
              <a:lnSpc>
                <a:spcPts val="3291"/>
              </a:lnSpc>
            </a:pPr>
            <a:r>
              <a:rPr lang="en-US" sz="3047" b="true">
                <a:solidFill>
                  <a:srgbClr val="464D50"/>
                </a:solidFill>
                <a:latin typeface="Montserrat Classic Bold"/>
                <a:ea typeface="Montserrat Classic Bold"/>
                <a:cs typeface="Montserrat Classic Bold"/>
                <a:sym typeface="Montserrat Classic Bold"/>
              </a:rPr>
              <a:t>Game Strategy</a:t>
            </a:r>
          </a:p>
        </p:txBody>
      </p:sp>
      <p:sp>
        <p:nvSpPr>
          <p:cNvPr name="TextBox 28" id="28"/>
          <p:cNvSpPr txBox="true"/>
          <p:nvPr/>
        </p:nvSpPr>
        <p:spPr>
          <a:xfrm rot="0">
            <a:off x="925735" y="14848912"/>
            <a:ext cx="7561855" cy="2581729"/>
          </a:xfrm>
          <a:prstGeom prst="rect">
            <a:avLst/>
          </a:prstGeom>
        </p:spPr>
        <p:txBody>
          <a:bodyPr anchor="t" rtlCol="false" tIns="0" lIns="0" bIns="0" rIns="0">
            <a:spAutoFit/>
          </a:bodyPr>
          <a:lstStyle/>
          <a:p>
            <a:pPr algn="just">
              <a:lnSpc>
                <a:spcPts val="2599"/>
              </a:lnSpc>
            </a:pPr>
            <a:r>
              <a:rPr lang="en-US" sz="1857">
                <a:solidFill>
                  <a:srgbClr val="464D50"/>
                </a:solidFill>
                <a:latin typeface="Montserrat Classic"/>
                <a:ea typeface="Montserrat Classic"/>
                <a:cs typeface="Montserrat Classic"/>
                <a:sym typeface="Montserrat Classic"/>
              </a:rPr>
              <a:t>TR's wheelbase calculates the distance from the walls and measure arrival at the tic-tac-toe area. Once the wheelbase is aligned fully with the area, the pneumatic cylinder pushes the rails over 90 degrees. Rails become slanted, and pieces are released to the tic-tac-toe boxes. The pieces are released separately by different pneumatic cylinder control to perform one at a time. The rails return to the initial state once the pneumatic cylinder retracts.</a:t>
            </a:r>
          </a:p>
        </p:txBody>
      </p:sp>
      <p:sp>
        <p:nvSpPr>
          <p:cNvPr name="TextBox 29" id="29"/>
          <p:cNvSpPr txBox="true"/>
          <p:nvPr/>
        </p:nvSpPr>
        <p:spPr>
          <a:xfrm rot="0">
            <a:off x="893826" y="19764825"/>
            <a:ext cx="8060296" cy="428804"/>
          </a:xfrm>
          <a:prstGeom prst="rect">
            <a:avLst/>
          </a:prstGeom>
        </p:spPr>
        <p:txBody>
          <a:bodyPr anchor="t" rtlCol="false" tIns="0" lIns="0" bIns="0" rIns="0">
            <a:spAutoFit/>
          </a:bodyPr>
          <a:lstStyle/>
          <a:p>
            <a:pPr algn="l">
              <a:lnSpc>
                <a:spcPts val="3291"/>
              </a:lnSpc>
            </a:pPr>
            <a:r>
              <a:rPr lang="en-US" sz="3047" b="true">
                <a:solidFill>
                  <a:srgbClr val="464D50"/>
                </a:solidFill>
                <a:latin typeface="Montserrat Classic Bold"/>
                <a:ea typeface="Montserrat Classic Bold"/>
                <a:cs typeface="Montserrat Classic Bold"/>
                <a:sym typeface="Montserrat Classic Bold"/>
              </a:rPr>
              <a:t>Move Coordinate System</a:t>
            </a:r>
          </a:p>
        </p:txBody>
      </p:sp>
      <p:sp>
        <p:nvSpPr>
          <p:cNvPr name="TextBox 30" id="30"/>
          <p:cNvSpPr txBox="true"/>
          <p:nvPr/>
        </p:nvSpPr>
        <p:spPr>
          <a:xfrm rot="0">
            <a:off x="893826" y="20215782"/>
            <a:ext cx="7625672" cy="2591181"/>
          </a:xfrm>
          <a:prstGeom prst="rect">
            <a:avLst/>
          </a:prstGeom>
        </p:spPr>
        <p:txBody>
          <a:bodyPr anchor="t" rtlCol="false" tIns="0" lIns="0" bIns="0" rIns="0">
            <a:spAutoFit/>
          </a:bodyPr>
          <a:lstStyle/>
          <a:p>
            <a:pPr algn="just">
              <a:lnSpc>
                <a:spcPts val="2604"/>
              </a:lnSpc>
            </a:pPr>
            <a:r>
              <a:rPr lang="en-US" sz="1860">
                <a:solidFill>
                  <a:srgbClr val="464D50"/>
                </a:solidFill>
                <a:latin typeface="Montserrat Classic"/>
                <a:ea typeface="Montserrat Classic"/>
                <a:cs typeface="Montserrat Classic"/>
                <a:sym typeface="Montserrat Classic"/>
              </a:rPr>
              <a:t>We calculate the TR's x, y, and angle coordinates using the motor speed returned from CAN. Using this system, we can easily move to the desired location with the correct angle by clicking the exact same location on the map. The location coordinates of our TR will also be sent and shown on the map. There will be some accumulated errors after every move, so we use a TOF sensor and wall alignment strategy to reset the robot's coordinates and ensure it is accurate again.</a:t>
            </a:r>
          </a:p>
        </p:txBody>
      </p:sp>
      <p:sp>
        <p:nvSpPr>
          <p:cNvPr name="TextBox 31" id="31"/>
          <p:cNvSpPr txBox="true"/>
          <p:nvPr/>
        </p:nvSpPr>
        <p:spPr>
          <a:xfrm rot="0">
            <a:off x="920513" y="17563991"/>
            <a:ext cx="8703772" cy="428804"/>
          </a:xfrm>
          <a:prstGeom prst="rect">
            <a:avLst/>
          </a:prstGeom>
        </p:spPr>
        <p:txBody>
          <a:bodyPr anchor="t" rtlCol="false" tIns="0" lIns="0" bIns="0" rIns="0">
            <a:spAutoFit/>
          </a:bodyPr>
          <a:lstStyle/>
          <a:p>
            <a:pPr algn="l">
              <a:lnSpc>
                <a:spcPts val="3291"/>
              </a:lnSpc>
            </a:pPr>
            <a:r>
              <a:rPr lang="en-US" sz="3047" b="true">
                <a:solidFill>
                  <a:srgbClr val="464D50"/>
                </a:solidFill>
                <a:latin typeface="Montserrat Classic Bold"/>
                <a:ea typeface="Montserrat Classic Bold"/>
                <a:cs typeface="Montserrat Classic Bold"/>
                <a:sym typeface="Montserrat Classic Bold"/>
              </a:rPr>
              <a:t>Bluetooth Command System</a:t>
            </a:r>
          </a:p>
        </p:txBody>
      </p:sp>
      <p:sp>
        <p:nvSpPr>
          <p:cNvPr name="TextBox 32" id="32"/>
          <p:cNvSpPr txBox="true"/>
          <p:nvPr/>
        </p:nvSpPr>
        <p:spPr>
          <a:xfrm rot="0">
            <a:off x="920513" y="17983269"/>
            <a:ext cx="7615428" cy="1619631"/>
          </a:xfrm>
          <a:prstGeom prst="rect">
            <a:avLst/>
          </a:prstGeom>
        </p:spPr>
        <p:txBody>
          <a:bodyPr anchor="t" rtlCol="false" tIns="0" lIns="0" bIns="0" rIns="0">
            <a:spAutoFit/>
          </a:bodyPr>
          <a:lstStyle/>
          <a:p>
            <a:pPr algn="just">
              <a:lnSpc>
                <a:spcPts val="2604"/>
              </a:lnSpc>
            </a:pPr>
            <a:r>
              <a:rPr lang="en-US" sz="1860">
                <a:solidFill>
                  <a:srgbClr val="464D50"/>
                </a:solidFill>
                <a:latin typeface="Montserrat Classic"/>
                <a:ea typeface="Montserrat Classic"/>
                <a:cs typeface="Montserrat Classic"/>
                <a:sym typeface="Montserrat Classic"/>
              </a:rPr>
              <a:t>We implemented a large number of commands on TR for many different situations. E.g. moving, shooting, moving along the auto shortcut, move to specific locations, We even add a queue to store multiple commands so that we can execute a list of commands automatically without manual controlling the TR.</a:t>
            </a:r>
          </a:p>
        </p:txBody>
      </p:sp>
      <p:sp>
        <p:nvSpPr>
          <p:cNvPr name="TextBox 33" id="33"/>
          <p:cNvSpPr txBox="true"/>
          <p:nvPr/>
        </p:nvSpPr>
        <p:spPr>
          <a:xfrm rot="0">
            <a:off x="920513" y="24023865"/>
            <a:ext cx="8703772" cy="428804"/>
          </a:xfrm>
          <a:prstGeom prst="rect">
            <a:avLst/>
          </a:prstGeom>
        </p:spPr>
        <p:txBody>
          <a:bodyPr anchor="t" rtlCol="false" tIns="0" lIns="0" bIns="0" rIns="0">
            <a:spAutoFit/>
          </a:bodyPr>
          <a:lstStyle/>
          <a:p>
            <a:pPr algn="l">
              <a:lnSpc>
                <a:spcPts val="3291"/>
              </a:lnSpc>
            </a:pPr>
            <a:r>
              <a:rPr lang="en-US" sz="3047" b="true">
                <a:solidFill>
                  <a:srgbClr val="464D50"/>
                </a:solidFill>
                <a:latin typeface="Montserrat Classic Bold"/>
                <a:ea typeface="Montserrat Classic Bold"/>
                <a:cs typeface="Montserrat Classic Bold"/>
                <a:sym typeface="Montserrat Classic Bold"/>
              </a:rPr>
              <a:t>Image Processing</a:t>
            </a:r>
          </a:p>
        </p:txBody>
      </p:sp>
      <p:sp>
        <p:nvSpPr>
          <p:cNvPr name="TextBox 34" id="34"/>
          <p:cNvSpPr txBox="true"/>
          <p:nvPr/>
        </p:nvSpPr>
        <p:spPr>
          <a:xfrm rot="0">
            <a:off x="920513" y="24462193"/>
            <a:ext cx="6899543" cy="2267331"/>
          </a:xfrm>
          <a:prstGeom prst="rect">
            <a:avLst/>
          </a:prstGeom>
        </p:spPr>
        <p:txBody>
          <a:bodyPr anchor="t" rtlCol="false" tIns="0" lIns="0" bIns="0" rIns="0">
            <a:spAutoFit/>
          </a:bodyPr>
          <a:lstStyle/>
          <a:p>
            <a:pPr algn="just">
              <a:lnSpc>
                <a:spcPts val="2604"/>
              </a:lnSpc>
            </a:pPr>
            <a:r>
              <a:rPr lang="en-US" sz="1860">
                <a:solidFill>
                  <a:srgbClr val="464D50"/>
                </a:solidFill>
                <a:latin typeface="Montserrat Classic"/>
                <a:ea typeface="Montserrat Classic"/>
                <a:cs typeface="Montserrat Classic"/>
                <a:sym typeface="Montserrat Classic"/>
              </a:rPr>
              <a:t>We used a Sobel filter to filter out unwanted data on the image to do Track sensing more easily. We found out that filtering the whole image is time-consuming and meaningless. So we only filter out the pixels that we need to improve the frame rate of the ARC.  (The image on the right is for testing purposes only, we won't filter out the whole image when moving.)</a:t>
            </a:r>
          </a:p>
        </p:txBody>
      </p:sp>
      <p:sp>
        <p:nvSpPr>
          <p:cNvPr name="TextBox 35" id="35"/>
          <p:cNvSpPr txBox="true"/>
          <p:nvPr/>
        </p:nvSpPr>
        <p:spPr>
          <a:xfrm rot="0">
            <a:off x="865389" y="26797812"/>
            <a:ext cx="8703772" cy="428804"/>
          </a:xfrm>
          <a:prstGeom prst="rect">
            <a:avLst/>
          </a:prstGeom>
        </p:spPr>
        <p:txBody>
          <a:bodyPr anchor="t" rtlCol="false" tIns="0" lIns="0" bIns="0" rIns="0">
            <a:spAutoFit/>
          </a:bodyPr>
          <a:lstStyle/>
          <a:p>
            <a:pPr algn="l">
              <a:lnSpc>
                <a:spcPts val="3291"/>
              </a:lnSpc>
            </a:pPr>
            <a:r>
              <a:rPr lang="en-US" sz="3047" b="true">
                <a:solidFill>
                  <a:srgbClr val="464D50"/>
                </a:solidFill>
                <a:latin typeface="Montserrat Classic Bold"/>
                <a:ea typeface="Montserrat Classic Bold"/>
                <a:cs typeface="Montserrat Classic Bold"/>
                <a:sym typeface="Montserrat Classic Bold"/>
              </a:rPr>
              <a:t>Track Sensing</a:t>
            </a:r>
          </a:p>
        </p:txBody>
      </p:sp>
      <p:sp>
        <p:nvSpPr>
          <p:cNvPr name="TextBox 36" id="36"/>
          <p:cNvSpPr txBox="true"/>
          <p:nvPr/>
        </p:nvSpPr>
        <p:spPr>
          <a:xfrm rot="0">
            <a:off x="893418" y="27236593"/>
            <a:ext cx="6849722" cy="2915031"/>
          </a:xfrm>
          <a:prstGeom prst="rect">
            <a:avLst/>
          </a:prstGeom>
        </p:spPr>
        <p:txBody>
          <a:bodyPr anchor="t" rtlCol="false" tIns="0" lIns="0" bIns="0" rIns="0">
            <a:spAutoFit/>
          </a:bodyPr>
          <a:lstStyle/>
          <a:p>
            <a:pPr algn="just">
              <a:lnSpc>
                <a:spcPts val="2604"/>
              </a:lnSpc>
            </a:pPr>
            <a:r>
              <a:rPr lang="en-US" sz="1860">
                <a:solidFill>
                  <a:srgbClr val="464D50"/>
                </a:solidFill>
                <a:latin typeface="Montserrat Classic"/>
                <a:ea typeface="Montserrat Classic"/>
                <a:cs typeface="Montserrat Classic"/>
                <a:sym typeface="Montserrat Classic"/>
              </a:rPr>
              <a:t>The ARC mainly calculates two things: the distance between the track's centre to the left and right borders and how far it is from the edge in the front. The ARC will adjust the correct steering angle using the PID algorithm and senses a turn beforehand, then decelerate and drift through it accordingly. Moreover, it also counts the number of turns to know whether it should follow the right or left border.</a:t>
            </a:r>
          </a:p>
          <a:p>
            <a:pPr algn="just">
              <a:lnSpc>
                <a:spcPts val="2604"/>
              </a:lnSpc>
            </a:pPr>
          </a:p>
        </p:txBody>
      </p:sp>
      <p:sp>
        <p:nvSpPr>
          <p:cNvPr name="TextBox 37" id="37"/>
          <p:cNvSpPr txBox="true"/>
          <p:nvPr/>
        </p:nvSpPr>
        <p:spPr>
          <a:xfrm rot="0">
            <a:off x="574802" y="6054233"/>
            <a:ext cx="11286017" cy="690074"/>
          </a:xfrm>
          <a:prstGeom prst="rect">
            <a:avLst/>
          </a:prstGeom>
        </p:spPr>
        <p:txBody>
          <a:bodyPr anchor="t" rtlCol="false" tIns="0" lIns="0" bIns="0" rIns="0">
            <a:spAutoFit/>
          </a:bodyPr>
          <a:lstStyle/>
          <a:p>
            <a:pPr algn="ctr">
              <a:lnSpc>
                <a:spcPts val="5308"/>
              </a:lnSpc>
            </a:pPr>
            <a:r>
              <a:rPr lang="en-US" b="true" sz="4915">
                <a:solidFill>
                  <a:srgbClr val="FFFFFF"/>
                </a:solidFill>
                <a:latin typeface="Montserrat Classic Bold"/>
                <a:ea typeface="Montserrat Classic Bold"/>
                <a:cs typeface="Montserrat Classic Bold"/>
                <a:sym typeface="Montserrat Classic Bold"/>
              </a:rPr>
              <a:t>Task Robot (TR)</a:t>
            </a:r>
          </a:p>
        </p:txBody>
      </p:sp>
      <p:sp>
        <p:nvSpPr>
          <p:cNvPr name="TextBox 38" id="38"/>
          <p:cNvSpPr txBox="true"/>
          <p:nvPr/>
        </p:nvSpPr>
        <p:spPr>
          <a:xfrm rot="0">
            <a:off x="13164834" y="20758220"/>
            <a:ext cx="6941908" cy="1619631"/>
          </a:xfrm>
          <a:prstGeom prst="rect">
            <a:avLst/>
          </a:prstGeom>
        </p:spPr>
        <p:txBody>
          <a:bodyPr anchor="t" rtlCol="false" tIns="0" lIns="0" bIns="0" rIns="0">
            <a:spAutoFit/>
          </a:bodyPr>
          <a:lstStyle/>
          <a:p>
            <a:pPr algn="just">
              <a:lnSpc>
                <a:spcPts val="2604"/>
              </a:lnSpc>
            </a:pPr>
            <a:r>
              <a:rPr lang="en-US" sz="1860">
                <a:solidFill>
                  <a:srgbClr val="464D50"/>
                </a:solidFill>
                <a:latin typeface="Montserrat Classic"/>
                <a:ea typeface="Montserrat Classic"/>
                <a:cs typeface="Montserrat Classic"/>
                <a:sym typeface="Montserrat Classic"/>
              </a:rPr>
              <a:t>Our members are outstandingly creative and hardworking. The members had extraordinary ideas for different tasks for the competition. Even with the wheels from the start, our various ideas may have led to changes in plans, but the hard-working members eventually made it work. </a:t>
            </a:r>
          </a:p>
        </p:txBody>
      </p:sp>
      <p:sp>
        <p:nvSpPr>
          <p:cNvPr name="TextBox 39" id="39"/>
          <p:cNvSpPr txBox="true"/>
          <p:nvPr/>
        </p:nvSpPr>
        <p:spPr>
          <a:xfrm rot="0">
            <a:off x="13092014" y="26533982"/>
            <a:ext cx="9518155" cy="607947"/>
          </a:xfrm>
          <a:prstGeom prst="rect">
            <a:avLst/>
          </a:prstGeom>
        </p:spPr>
        <p:txBody>
          <a:bodyPr anchor="t" rtlCol="false" tIns="0" lIns="0" bIns="0" rIns="0">
            <a:spAutoFit/>
          </a:bodyPr>
          <a:lstStyle/>
          <a:p>
            <a:pPr algn="l">
              <a:lnSpc>
                <a:spcPts val="4607"/>
              </a:lnSpc>
            </a:pPr>
            <a:r>
              <a:rPr lang="en-US" b="true" sz="4266">
                <a:solidFill>
                  <a:srgbClr val="008037"/>
                </a:solidFill>
                <a:latin typeface="Montserrat Classic Bold"/>
                <a:ea typeface="Montserrat Classic Bold"/>
                <a:cs typeface="Montserrat Classic Bold"/>
                <a:sym typeface="Montserrat Classic Bold"/>
              </a:rPr>
              <a:t>ACKNOWLEDGEMENTS</a:t>
            </a:r>
          </a:p>
        </p:txBody>
      </p:sp>
      <p:sp>
        <p:nvSpPr>
          <p:cNvPr name="TextBox 40" id="40"/>
          <p:cNvSpPr txBox="true"/>
          <p:nvPr/>
        </p:nvSpPr>
        <p:spPr>
          <a:xfrm rot="0">
            <a:off x="13103124" y="27311157"/>
            <a:ext cx="7045494" cy="1619631"/>
          </a:xfrm>
          <a:prstGeom prst="rect">
            <a:avLst/>
          </a:prstGeom>
        </p:spPr>
        <p:txBody>
          <a:bodyPr anchor="t" rtlCol="false" tIns="0" lIns="0" bIns="0" rIns="0">
            <a:spAutoFit/>
          </a:bodyPr>
          <a:lstStyle/>
          <a:p>
            <a:pPr algn="just">
              <a:lnSpc>
                <a:spcPts val="2604"/>
              </a:lnSpc>
            </a:pPr>
            <a:r>
              <a:rPr lang="en-US" sz="1860">
                <a:solidFill>
                  <a:srgbClr val="464D50"/>
                </a:solidFill>
                <a:latin typeface="Montserrat Classic"/>
                <a:ea typeface="Montserrat Classic"/>
                <a:cs typeface="Montserrat Classic"/>
                <a:sym typeface="Montserrat Classic"/>
              </a:rPr>
              <a:t>We, as a team, would like to extend our gratitude towards all mentors, PIC, senior members and staff for their support, guidance and training. Despite the chaos due to COVID-19 cases, we are grateful to have been able to continue in the journey safely. </a:t>
            </a:r>
          </a:p>
        </p:txBody>
      </p:sp>
      <p:sp>
        <p:nvSpPr>
          <p:cNvPr name="TextBox 41" id="41"/>
          <p:cNvSpPr txBox="true"/>
          <p:nvPr/>
        </p:nvSpPr>
        <p:spPr>
          <a:xfrm rot="0">
            <a:off x="13092014" y="9796470"/>
            <a:ext cx="7605754" cy="684045"/>
          </a:xfrm>
          <a:prstGeom prst="rect">
            <a:avLst/>
          </a:prstGeom>
        </p:spPr>
        <p:txBody>
          <a:bodyPr anchor="t" rtlCol="false" tIns="0" lIns="0" bIns="0" rIns="0">
            <a:spAutoFit/>
          </a:bodyPr>
          <a:lstStyle/>
          <a:p>
            <a:pPr algn="l">
              <a:lnSpc>
                <a:spcPts val="5275"/>
              </a:lnSpc>
            </a:pPr>
            <a:r>
              <a:rPr lang="en-US" b="true" sz="4884">
                <a:solidFill>
                  <a:srgbClr val="FF914D"/>
                </a:solidFill>
                <a:latin typeface="Montserrat Classic Bold"/>
                <a:ea typeface="Montserrat Classic Bold"/>
                <a:cs typeface="Montserrat Classic Bold"/>
                <a:sym typeface="Montserrat Classic Bold"/>
              </a:rPr>
              <a:t>OUR TEAM</a:t>
            </a:r>
          </a:p>
        </p:txBody>
      </p:sp>
      <p:sp>
        <p:nvSpPr>
          <p:cNvPr name="TextBox 42" id="42"/>
          <p:cNvSpPr txBox="true"/>
          <p:nvPr/>
        </p:nvSpPr>
        <p:spPr>
          <a:xfrm rot="0">
            <a:off x="13164834" y="11245296"/>
            <a:ext cx="1690129" cy="3886581"/>
          </a:xfrm>
          <a:prstGeom prst="rect">
            <a:avLst/>
          </a:prstGeom>
        </p:spPr>
        <p:txBody>
          <a:bodyPr anchor="t" rtlCol="false" tIns="0" lIns="0" bIns="0" rIns="0">
            <a:spAutoFit/>
          </a:bodyPr>
          <a:lstStyle/>
          <a:p>
            <a:pPr algn="l" marL="401576" indent="-200788" lvl="1">
              <a:lnSpc>
                <a:spcPts val="2604"/>
              </a:lnSpc>
              <a:buAutoNum type="arabicPeriod" startAt="1"/>
            </a:pPr>
            <a:r>
              <a:rPr lang="en-US" sz="1860">
                <a:solidFill>
                  <a:srgbClr val="464D50"/>
                </a:solidFill>
                <a:latin typeface="Montserrat Classic"/>
                <a:ea typeface="Montserrat Classic"/>
                <a:cs typeface="Montserrat Classic"/>
                <a:sym typeface="Montserrat Classic"/>
              </a:rPr>
              <a:t> Dicaprio     </a:t>
            </a:r>
          </a:p>
          <a:p>
            <a:pPr algn="l" marL="401576" indent="-200788" lvl="1">
              <a:lnSpc>
                <a:spcPts val="2604"/>
              </a:lnSpc>
              <a:buAutoNum type="arabicPeriod" startAt="1"/>
            </a:pPr>
            <a:r>
              <a:rPr lang="en-US" sz="1860">
                <a:solidFill>
                  <a:srgbClr val="464D50"/>
                </a:solidFill>
                <a:latin typeface="Montserrat Classic"/>
                <a:ea typeface="Montserrat Classic"/>
                <a:cs typeface="Montserrat Classic"/>
                <a:sym typeface="Montserrat Classic"/>
              </a:rPr>
              <a:t> Tyler</a:t>
            </a:r>
          </a:p>
          <a:p>
            <a:pPr algn="l" marL="401576" indent="-200788" lvl="1">
              <a:lnSpc>
                <a:spcPts val="2604"/>
              </a:lnSpc>
              <a:buAutoNum type="arabicPeriod" startAt="1"/>
            </a:pPr>
            <a:r>
              <a:rPr lang="en-US" sz="1860">
                <a:solidFill>
                  <a:srgbClr val="464D50"/>
                </a:solidFill>
                <a:latin typeface="Montserrat Classic"/>
                <a:ea typeface="Montserrat Classic"/>
                <a:cs typeface="Montserrat Classic"/>
                <a:sym typeface="Montserrat Classic"/>
              </a:rPr>
              <a:t> Curtis</a:t>
            </a:r>
          </a:p>
          <a:p>
            <a:pPr algn="l" marL="401576" indent="-200788" lvl="1">
              <a:lnSpc>
                <a:spcPts val="2604"/>
              </a:lnSpc>
              <a:buAutoNum type="arabicPeriod" startAt="1"/>
            </a:pPr>
            <a:r>
              <a:rPr lang="en-US" sz="1860">
                <a:solidFill>
                  <a:srgbClr val="464D50"/>
                </a:solidFill>
                <a:latin typeface="Montserrat Classic"/>
                <a:ea typeface="Montserrat Classic"/>
                <a:cs typeface="Montserrat Classic"/>
                <a:sym typeface="Montserrat Classic"/>
              </a:rPr>
              <a:t> Timmy</a:t>
            </a:r>
          </a:p>
          <a:p>
            <a:pPr algn="l" marL="401576" indent="-200788" lvl="1">
              <a:lnSpc>
                <a:spcPts val="2604"/>
              </a:lnSpc>
              <a:buAutoNum type="arabicPeriod" startAt="1"/>
            </a:pPr>
            <a:r>
              <a:rPr lang="en-US" sz="1860">
                <a:solidFill>
                  <a:srgbClr val="464D50"/>
                </a:solidFill>
                <a:latin typeface="Montserrat Classic"/>
                <a:ea typeface="Montserrat Classic"/>
                <a:cs typeface="Montserrat Classic"/>
                <a:sym typeface="Montserrat Classic"/>
              </a:rPr>
              <a:t> Martin</a:t>
            </a:r>
          </a:p>
          <a:p>
            <a:pPr algn="l" marL="401576" indent="-200788" lvl="1">
              <a:lnSpc>
                <a:spcPts val="2604"/>
              </a:lnSpc>
              <a:buAutoNum type="arabicPeriod" startAt="1"/>
            </a:pPr>
            <a:r>
              <a:rPr lang="en-US" sz="1860">
                <a:solidFill>
                  <a:srgbClr val="464D50"/>
                </a:solidFill>
                <a:latin typeface="Montserrat Classic"/>
                <a:ea typeface="Montserrat Classic"/>
                <a:cs typeface="Montserrat Classic"/>
                <a:sym typeface="Montserrat Classic"/>
              </a:rPr>
              <a:t> Philip</a:t>
            </a:r>
          </a:p>
          <a:p>
            <a:pPr algn="l" marL="401576" indent="-200788" lvl="1">
              <a:lnSpc>
                <a:spcPts val="2604"/>
              </a:lnSpc>
              <a:buAutoNum type="arabicPeriod" startAt="1"/>
            </a:pPr>
            <a:r>
              <a:rPr lang="en-US" sz="1860">
                <a:solidFill>
                  <a:srgbClr val="464D50"/>
                </a:solidFill>
                <a:latin typeface="Montserrat Classic"/>
                <a:ea typeface="Montserrat Classic"/>
                <a:cs typeface="Montserrat Classic"/>
                <a:sym typeface="Montserrat Classic"/>
              </a:rPr>
              <a:t> Ga Young</a:t>
            </a:r>
          </a:p>
          <a:p>
            <a:pPr algn="l" marL="401576" indent="-200788" lvl="1">
              <a:lnSpc>
                <a:spcPts val="2604"/>
              </a:lnSpc>
              <a:buAutoNum type="arabicPeriod" startAt="1"/>
            </a:pPr>
            <a:r>
              <a:rPr lang="en-US" sz="1860">
                <a:solidFill>
                  <a:srgbClr val="464D50"/>
                </a:solidFill>
                <a:latin typeface="Montserrat Classic"/>
                <a:ea typeface="Montserrat Classic"/>
                <a:cs typeface="Montserrat Classic"/>
                <a:sym typeface="Montserrat Classic"/>
              </a:rPr>
              <a:t> Gigi</a:t>
            </a:r>
          </a:p>
          <a:p>
            <a:pPr algn="l" marL="401576" indent="-200788" lvl="1">
              <a:lnSpc>
                <a:spcPts val="2604"/>
              </a:lnSpc>
              <a:buAutoNum type="arabicPeriod" startAt="1"/>
            </a:pPr>
            <a:r>
              <a:rPr lang="en-US" sz="1860">
                <a:solidFill>
                  <a:srgbClr val="464D50"/>
                </a:solidFill>
                <a:latin typeface="Montserrat Classic"/>
                <a:ea typeface="Montserrat Classic"/>
                <a:cs typeface="Montserrat Classic"/>
                <a:sym typeface="Montserrat Classic"/>
              </a:rPr>
              <a:t> Fiona</a:t>
            </a:r>
          </a:p>
          <a:p>
            <a:pPr algn="l" marL="401576" indent="-200788" lvl="1">
              <a:lnSpc>
                <a:spcPts val="2604"/>
              </a:lnSpc>
              <a:buAutoNum type="arabicPeriod" startAt="1"/>
            </a:pPr>
            <a:r>
              <a:rPr lang="en-US" sz="1860">
                <a:solidFill>
                  <a:srgbClr val="464D50"/>
                </a:solidFill>
                <a:latin typeface="Montserrat Classic"/>
                <a:ea typeface="Montserrat Classic"/>
                <a:cs typeface="Montserrat Classic"/>
                <a:sym typeface="Montserrat Classic"/>
              </a:rPr>
              <a:t> Jonathan</a:t>
            </a:r>
          </a:p>
          <a:p>
            <a:pPr algn="l" marL="401576" indent="-200788" lvl="1">
              <a:lnSpc>
                <a:spcPts val="2604"/>
              </a:lnSpc>
              <a:buAutoNum type="arabicPeriod" startAt="1"/>
            </a:pPr>
            <a:r>
              <a:rPr lang="en-US" sz="1860">
                <a:solidFill>
                  <a:srgbClr val="464D50"/>
                </a:solidFill>
                <a:latin typeface="Montserrat Classic"/>
                <a:ea typeface="Montserrat Classic"/>
                <a:cs typeface="Montserrat Classic"/>
                <a:sym typeface="Montserrat Classic"/>
              </a:rPr>
              <a:t> Leo</a:t>
            </a:r>
          </a:p>
          <a:p>
            <a:pPr algn="l" marL="401576" indent="-200788" lvl="1">
              <a:lnSpc>
                <a:spcPts val="2604"/>
              </a:lnSpc>
              <a:buAutoNum type="arabicPeriod" startAt="1"/>
            </a:pPr>
            <a:r>
              <a:rPr lang="en-US" sz="1860">
                <a:solidFill>
                  <a:srgbClr val="464D50"/>
                </a:solidFill>
                <a:latin typeface="Montserrat Classic"/>
                <a:ea typeface="Montserrat Classic"/>
                <a:cs typeface="Montserrat Classic"/>
                <a:sym typeface="Montserrat Classic"/>
              </a:rPr>
              <a:t> Nicky</a:t>
            </a:r>
          </a:p>
        </p:txBody>
      </p:sp>
      <p:sp>
        <p:nvSpPr>
          <p:cNvPr name="TextBox 43" id="43"/>
          <p:cNvSpPr txBox="true"/>
          <p:nvPr/>
        </p:nvSpPr>
        <p:spPr>
          <a:xfrm rot="0">
            <a:off x="890306" y="2875823"/>
            <a:ext cx="9518155" cy="706143"/>
          </a:xfrm>
          <a:prstGeom prst="rect">
            <a:avLst/>
          </a:prstGeom>
        </p:spPr>
        <p:txBody>
          <a:bodyPr anchor="t" rtlCol="false" tIns="0" lIns="0" bIns="0" rIns="0">
            <a:spAutoFit/>
          </a:bodyPr>
          <a:lstStyle/>
          <a:p>
            <a:pPr algn="l">
              <a:lnSpc>
                <a:spcPts val="5491"/>
              </a:lnSpc>
            </a:pPr>
            <a:r>
              <a:rPr lang="en-US" sz="5084">
                <a:solidFill>
                  <a:srgbClr val="FF914D"/>
                </a:solidFill>
                <a:latin typeface="字由点字倔强黑"/>
                <a:ea typeface="字由点字倔强黑"/>
                <a:cs typeface="字由点字倔强黑"/>
                <a:sym typeface="字由点字倔强黑"/>
              </a:rPr>
              <a:t>ABSTRACT</a:t>
            </a:r>
          </a:p>
        </p:txBody>
      </p:sp>
      <p:sp>
        <p:nvSpPr>
          <p:cNvPr name="TextBox 44" id="44"/>
          <p:cNvSpPr txBox="true"/>
          <p:nvPr/>
        </p:nvSpPr>
        <p:spPr>
          <a:xfrm rot="0">
            <a:off x="890306" y="3570367"/>
            <a:ext cx="10492960" cy="2398141"/>
          </a:xfrm>
          <a:prstGeom prst="rect">
            <a:avLst/>
          </a:prstGeom>
        </p:spPr>
        <p:txBody>
          <a:bodyPr anchor="t" rtlCol="false" tIns="0" lIns="0" bIns="0" rIns="0">
            <a:spAutoFit/>
          </a:bodyPr>
          <a:lstStyle/>
          <a:p>
            <a:pPr algn="just">
              <a:lnSpc>
                <a:spcPts val="2743"/>
              </a:lnSpc>
            </a:pPr>
            <a:r>
              <a:rPr lang="en-US" sz="1959">
                <a:solidFill>
                  <a:srgbClr val="464D50"/>
                </a:solidFill>
                <a:latin typeface="Montserrat Classic"/>
                <a:ea typeface="Montserrat Classic"/>
                <a:cs typeface="Montserrat Classic"/>
                <a:sym typeface="Montserrat Classic"/>
              </a:rPr>
              <a:t>WE ARE FIBOTICS! Our team comprises 12 members, each with distinctive skills from prior experiences or simply freshmen who share enthusiasm in robotics. "Fibotics" is inspired by group number 5, and, more importantly, we all love robotics! We are honoured to participate in Robot Design Contest (RDC) 2022 to design and build the automatic racing car (ARC) and Task Robot (TR) to solve the tic-tac-toe challenge precisely and other competitive challenges! In the following, allow us to elaborate on our  robot design mechanism and our compelling journey.</a:t>
            </a:r>
          </a:p>
        </p:txBody>
      </p:sp>
      <p:sp>
        <p:nvSpPr>
          <p:cNvPr name="TextBox 45" id="45"/>
          <p:cNvSpPr txBox="true"/>
          <p:nvPr/>
        </p:nvSpPr>
        <p:spPr>
          <a:xfrm rot="0">
            <a:off x="13164834" y="19659449"/>
            <a:ext cx="6668800" cy="966408"/>
          </a:xfrm>
          <a:prstGeom prst="rect">
            <a:avLst/>
          </a:prstGeom>
        </p:spPr>
        <p:txBody>
          <a:bodyPr anchor="t" rtlCol="false" tIns="0" lIns="0" bIns="0" rIns="0">
            <a:spAutoFit/>
          </a:bodyPr>
          <a:lstStyle/>
          <a:p>
            <a:pPr algn="l">
              <a:lnSpc>
                <a:spcPts val="3736"/>
              </a:lnSpc>
            </a:pPr>
            <a:r>
              <a:rPr lang="en-US" sz="3459" b="true">
                <a:solidFill>
                  <a:srgbClr val="464D50"/>
                </a:solidFill>
                <a:latin typeface="Montserrat Classic Bold"/>
                <a:ea typeface="Montserrat Classic Bold"/>
                <a:cs typeface="Montserrat Classic Bold"/>
                <a:sym typeface="Montserrat Classic Bold"/>
              </a:rPr>
              <a:t>Overall Experience and Strength of our team</a:t>
            </a:r>
          </a:p>
        </p:txBody>
      </p:sp>
      <p:sp>
        <p:nvSpPr>
          <p:cNvPr name="TextBox 46" id="46"/>
          <p:cNvSpPr txBox="true"/>
          <p:nvPr/>
        </p:nvSpPr>
        <p:spPr>
          <a:xfrm rot="0">
            <a:off x="13164834" y="22713326"/>
            <a:ext cx="6668800" cy="495318"/>
          </a:xfrm>
          <a:prstGeom prst="rect">
            <a:avLst/>
          </a:prstGeom>
        </p:spPr>
        <p:txBody>
          <a:bodyPr anchor="t" rtlCol="false" tIns="0" lIns="0" bIns="0" rIns="0">
            <a:spAutoFit/>
          </a:bodyPr>
          <a:lstStyle/>
          <a:p>
            <a:pPr algn="l">
              <a:lnSpc>
                <a:spcPts val="3739"/>
              </a:lnSpc>
            </a:pPr>
            <a:r>
              <a:rPr lang="en-US" sz="3462" b="true">
                <a:solidFill>
                  <a:srgbClr val="464D50"/>
                </a:solidFill>
                <a:latin typeface="Montserrat Classic Bold"/>
                <a:ea typeface="Montserrat Classic Bold"/>
                <a:cs typeface="Montserrat Classic Bold"/>
                <a:sym typeface="Montserrat Classic Bold"/>
              </a:rPr>
              <a:t>Areas for improvement</a:t>
            </a:r>
          </a:p>
        </p:txBody>
      </p:sp>
      <p:sp>
        <p:nvSpPr>
          <p:cNvPr name="TextBox 47" id="47"/>
          <p:cNvSpPr txBox="true"/>
          <p:nvPr/>
        </p:nvSpPr>
        <p:spPr>
          <a:xfrm rot="0">
            <a:off x="13164834" y="23250822"/>
            <a:ext cx="6825665" cy="3238881"/>
          </a:xfrm>
          <a:prstGeom prst="rect">
            <a:avLst/>
          </a:prstGeom>
        </p:spPr>
        <p:txBody>
          <a:bodyPr anchor="t" rtlCol="false" tIns="0" lIns="0" bIns="0" rIns="0">
            <a:spAutoFit/>
          </a:bodyPr>
          <a:lstStyle/>
          <a:p>
            <a:pPr algn="just">
              <a:lnSpc>
                <a:spcPts val="2604"/>
              </a:lnSpc>
            </a:pPr>
            <a:r>
              <a:rPr lang="en-US" sz="1860">
                <a:solidFill>
                  <a:srgbClr val="464D50"/>
                </a:solidFill>
                <a:latin typeface="Montserrat Classic"/>
                <a:ea typeface="Montserrat Classic"/>
                <a:cs typeface="Montserrat Classic"/>
                <a:sym typeface="Montserrat Classic"/>
              </a:rPr>
              <a:t>We need to improve our communication between different departments. It would be better to have all members of all teams up to date with the progress of different departments.</a:t>
            </a:r>
          </a:p>
          <a:p>
            <a:pPr algn="just">
              <a:lnSpc>
                <a:spcPts val="2604"/>
              </a:lnSpc>
            </a:pPr>
            <a:r>
              <a:rPr lang="en-US" sz="1860">
                <a:solidFill>
                  <a:srgbClr val="464D50"/>
                </a:solidFill>
                <a:latin typeface="Montserrat Classic"/>
                <a:ea typeface="Montserrat Classic"/>
                <a:cs typeface="Montserrat Classic"/>
                <a:sym typeface="Montserrat Classic"/>
              </a:rPr>
              <a:t>Division of labor could be improved as the work often relied on few of the strong members of the department. </a:t>
            </a:r>
          </a:p>
          <a:p>
            <a:pPr algn="just">
              <a:lnSpc>
                <a:spcPts val="2604"/>
              </a:lnSpc>
            </a:pPr>
            <a:r>
              <a:rPr lang="en-US" sz="1860">
                <a:solidFill>
                  <a:srgbClr val="464D50"/>
                </a:solidFill>
                <a:latin typeface="Montserrat Classic"/>
                <a:ea typeface="Montserrat Classic"/>
                <a:cs typeface="Montserrat Classic"/>
                <a:sym typeface="Montserrat Classic"/>
              </a:rPr>
              <a:t>We should not trust the things mentioned by our mentors such that we are over-confident of our abilities and mechanisms. We should test it out ourselves in an early stage to avoid wasting time.</a:t>
            </a:r>
          </a:p>
        </p:txBody>
      </p:sp>
      <p:sp>
        <p:nvSpPr>
          <p:cNvPr name="TextBox 48" id="48"/>
          <p:cNvSpPr txBox="true"/>
          <p:nvPr/>
        </p:nvSpPr>
        <p:spPr>
          <a:xfrm rot="0">
            <a:off x="13267514" y="15506691"/>
            <a:ext cx="7605754" cy="364666"/>
          </a:xfrm>
          <a:prstGeom prst="rect">
            <a:avLst/>
          </a:prstGeom>
        </p:spPr>
        <p:txBody>
          <a:bodyPr anchor="t" rtlCol="false" tIns="0" lIns="0" bIns="0" rIns="0">
            <a:spAutoFit/>
          </a:bodyPr>
          <a:lstStyle/>
          <a:p>
            <a:pPr algn="l">
              <a:lnSpc>
                <a:spcPts val="2827"/>
              </a:lnSpc>
            </a:pPr>
            <a:r>
              <a:rPr lang="en-US" b="true" sz="2617">
                <a:solidFill>
                  <a:srgbClr val="464D50"/>
                </a:solidFill>
                <a:latin typeface="Montserrat Classic Bold"/>
                <a:ea typeface="Montserrat Classic Bold"/>
                <a:cs typeface="Montserrat Classic Bold"/>
                <a:sym typeface="Montserrat Classic Bold"/>
              </a:rPr>
              <a:t>INSTRUCTED BY:</a:t>
            </a:r>
          </a:p>
        </p:txBody>
      </p:sp>
      <p:sp>
        <p:nvSpPr>
          <p:cNvPr name="TextBox 49" id="49"/>
          <p:cNvSpPr txBox="true"/>
          <p:nvPr/>
        </p:nvSpPr>
        <p:spPr>
          <a:xfrm rot="0">
            <a:off x="13092014" y="15896658"/>
            <a:ext cx="1539139" cy="1295781"/>
          </a:xfrm>
          <a:prstGeom prst="rect">
            <a:avLst/>
          </a:prstGeom>
        </p:spPr>
        <p:txBody>
          <a:bodyPr anchor="t" rtlCol="false" tIns="0" lIns="0" bIns="0" rIns="0">
            <a:spAutoFit/>
          </a:bodyPr>
          <a:lstStyle/>
          <a:p>
            <a:pPr algn="l" marL="401576" indent="-200788" lvl="1">
              <a:lnSpc>
                <a:spcPts val="2604"/>
              </a:lnSpc>
              <a:buAutoNum type="arabicPeriod" startAt="1"/>
            </a:pPr>
            <a:r>
              <a:rPr lang="en-US" sz="1860">
                <a:solidFill>
                  <a:srgbClr val="464D50"/>
                </a:solidFill>
                <a:latin typeface="Montserrat Classic"/>
                <a:ea typeface="Montserrat Classic"/>
                <a:cs typeface="Montserrat Classic"/>
                <a:sym typeface="Montserrat Classic"/>
              </a:rPr>
              <a:t> Jeffrey</a:t>
            </a:r>
          </a:p>
          <a:p>
            <a:pPr algn="l" marL="401576" indent="-200788" lvl="1">
              <a:lnSpc>
                <a:spcPts val="2604"/>
              </a:lnSpc>
              <a:buAutoNum type="arabicPeriod" startAt="1"/>
            </a:pPr>
            <a:r>
              <a:rPr lang="en-US" sz="1860">
                <a:solidFill>
                  <a:srgbClr val="464D50"/>
                </a:solidFill>
                <a:latin typeface="Montserrat Classic"/>
                <a:ea typeface="Montserrat Classic"/>
                <a:cs typeface="Montserrat Classic"/>
                <a:sym typeface="Montserrat Classic"/>
              </a:rPr>
              <a:t> Samson</a:t>
            </a:r>
          </a:p>
          <a:p>
            <a:pPr algn="l" marL="401576" indent="-200788" lvl="1">
              <a:lnSpc>
                <a:spcPts val="2604"/>
              </a:lnSpc>
              <a:buAutoNum type="arabicPeriod" startAt="1"/>
            </a:pPr>
            <a:r>
              <a:rPr lang="en-US" sz="1860">
                <a:solidFill>
                  <a:srgbClr val="464D50"/>
                </a:solidFill>
                <a:latin typeface="Montserrat Classic"/>
                <a:ea typeface="Montserrat Classic"/>
                <a:cs typeface="Montserrat Classic"/>
                <a:sym typeface="Montserrat Classic"/>
              </a:rPr>
              <a:t> Woody</a:t>
            </a:r>
          </a:p>
          <a:p>
            <a:pPr algn="l" marL="401576" indent="-200788" lvl="1">
              <a:lnSpc>
                <a:spcPts val="2604"/>
              </a:lnSpc>
              <a:buAutoNum type="arabicPeriod" startAt="1"/>
            </a:pPr>
            <a:r>
              <a:rPr lang="en-US" sz="1860">
                <a:solidFill>
                  <a:srgbClr val="464D50"/>
                </a:solidFill>
                <a:latin typeface="Montserrat Classic"/>
                <a:ea typeface="Montserrat Classic"/>
                <a:cs typeface="Montserrat Classic"/>
                <a:sym typeface="Montserrat Classic"/>
              </a:rPr>
              <a:t> Sam</a:t>
            </a:r>
          </a:p>
        </p:txBody>
      </p:sp>
      <p:sp>
        <p:nvSpPr>
          <p:cNvPr name="TextBox 50" id="50"/>
          <p:cNvSpPr txBox="true"/>
          <p:nvPr/>
        </p:nvSpPr>
        <p:spPr>
          <a:xfrm rot="0">
            <a:off x="865170" y="6991957"/>
            <a:ext cx="5492655" cy="433203"/>
          </a:xfrm>
          <a:prstGeom prst="rect">
            <a:avLst/>
          </a:prstGeom>
        </p:spPr>
        <p:txBody>
          <a:bodyPr anchor="t" rtlCol="false" tIns="0" lIns="0" bIns="0" rIns="0">
            <a:spAutoFit/>
          </a:bodyPr>
          <a:lstStyle/>
          <a:p>
            <a:pPr algn="l">
              <a:lnSpc>
                <a:spcPts val="3289"/>
              </a:lnSpc>
            </a:pPr>
            <a:r>
              <a:rPr lang="en-US" sz="3045" b="true">
                <a:solidFill>
                  <a:srgbClr val="464D50"/>
                </a:solidFill>
                <a:latin typeface="Montserrat Classic Bold"/>
                <a:ea typeface="Montserrat Classic Bold"/>
                <a:cs typeface="Montserrat Classic Bold"/>
                <a:sym typeface="Montserrat Classic Bold"/>
              </a:rPr>
              <a:t>Dropping Mechanism</a:t>
            </a:r>
          </a:p>
        </p:txBody>
      </p:sp>
      <p:sp>
        <p:nvSpPr>
          <p:cNvPr name="TextBox 51" id="51"/>
          <p:cNvSpPr txBox="true"/>
          <p:nvPr/>
        </p:nvSpPr>
        <p:spPr>
          <a:xfrm rot="0">
            <a:off x="891240" y="7425160"/>
            <a:ext cx="7588950" cy="1934051"/>
          </a:xfrm>
          <a:prstGeom prst="rect">
            <a:avLst/>
          </a:prstGeom>
        </p:spPr>
        <p:txBody>
          <a:bodyPr anchor="t" rtlCol="false" tIns="0" lIns="0" bIns="0" rIns="0">
            <a:spAutoFit/>
          </a:bodyPr>
          <a:lstStyle/>
          <a:p>
            <a:pPr algn="just">
              <a:lnSpc>
                <a:spcPts val="2598"/>
              </a:lnSpc>
            </a:pPr>
            <a:r>
              <a:rPr lang="en-US" sz="1856">
                <a:solidFill>
                  <a:srgbClr val="464D50"/>
                </a:solidFill>
                <a:latin typeface="Montserrat Classic"/>
                <a:ea typeface="Montserrat Classic"/>
                <a:cs typeface="Montserrat Classic"/>
                <a:sym typeface="Montserrat Classic"/>
              </a:rPr>
              <a:t>TR have three separate rails of different lengths to hold and drop the pieces to the tic-tac-toe boxes. The rails are connected by hinges separately and are initially slanted backwards to avoid the pieces from rolling out. Three respective pneumatic cylinders will push the rails upwards to slant forward the rails  so that the pieces roll down along the rails and into the box.</a:t>
            </a:r>
          </a:p>
        </p:txBody>
      </p:sp>
      <p:sp>
        <p:nvSpPr>
          <p:cNvPr name="TextBox 52" id="52"/>
          <p:cNvSpPr txBox="true"/>
          <p:nvPr/>
        </p:nvSpPr>
        <p:spPr>
          <a:xfrm rot="0">
            <a:off x="890160" y="9892303"/>
            <a:ext cx="7561855" cy="1610201"/>
          </a:xfrm>
          <a:prstGeom prst="rect">
            <a:avLst/>
          </a:prstGeom>
        </p:spPr>
        <p:txBody>
          <a:bodyPr anchor="t" rtlCol="false" tIns="0" lIns="0" bIns="0" rIns="0">
            <a:spAutoFit/>
          </a:bodyPr>
          <a:lstStyle/>
          <a:p>
            <a:pPr algn="just">
              <a:lnSpc>
                <a:spcPts val="2598"/>
              </a:lnSpc>
            </a:pPr>
            <a:r>
              <a:rPr lang="en-US" sz="1856">
                <a:solidFill>
                  <a:srgbClr val="464D50"/>
                </a:solidFill>
                <a:latin typeface="Montserrat Classic"/>
                <a:ea typeface="Montserrat Classic"/>
                <a:cs typeface="Montserrat Classic"/>
                <a:sym typeface="Montserrat Classic"/>
              </a:rPr>
              <a:t>We have racks installed at the loading zone. Once the TR arrives at the loading zone, it will hit the handle of the loading racks to trigger a passive loading mechanism, releasing the pieces onto the TR's built-in rack per rail, and hold firmly by the -45 degree setting of the rail.</a:t>
            </a:r>
          </a:p>
        </p:txBody>
      </p:sp>
      <p:sp>
        <p:nvSpPr>
          <p:cNvPr name="TextBox 53" id="53"/>
          <p:cNvSpPr txBox="true"/>
          <p:nvPr/>
        </p:nvSpPr>
        <p:spPr>
          <a:xfrm rot="0">
            <a:off x="13244633" y="10756740"/>
            <a:ext cx="7605754" cy="364666"/>
          </a:xfrm>
          <a:prstGeom prst="rect">
            <a:avLst/>
          </a:prstGeom>
        </p:spPr>
        <p:txBody>
          <a:bodyPr anchor="t" rtlCol="false" tIns="0" lIns="0" bIns="0" rIns="0">
            <a:spAutoFit/>
          </a:bodyPr>
          <a:lstStyle/>
          <a:p>
            <a:pPr algn="l">
              <a:lnSpc>
                <a:spcPts val="2827"/>
              </a:lnSpc>
            </a:pPr>
            <a:r>
              <a:rPr lang="en-US" b="true" sz="2617">
                <a:solidFill>
                  <a:srgbClr val="464D50"/>
                </a:solidFill>
                <a:latin typeface="Montserrat Classic Bold"/>
                <a:ea typeface="Montserrat Classic Bold"/>
                <a:cs typeface="Montserrat Classic Bold"/>
                <a:sym typeface="Montserrat Classic Bold"/>
              </a:rPr>
              <a:t>TEAM MEMBERS</a:t>
            </a:r>
          </a:p>
        </p:txBody>
      </p:sp>
      <p:sp>
        <p:nvSpPr>
          <p:cNvPr name="TextBox 54" id="54"/>
          <p:cNvSpPr txBox="true"/>
          <p:nvPr/>
        </p:nvSpPr>
        <p:spPr>
          <a:xfrm rot="0">
            <a:off x="893826" y="11624229"/>
            <a:ext cx="5492655" cy="433203"/>
          </a:xfrm>
          <a:prstGeom prst="rect">
            <a:avLst/>
          </a:prstGeom>
        </p:spPr>
        <p:txBody>
          <a:bodyPr anchor="t" rtlCol="false" tIns="0" lIns="0" bIns="0" rIns="0">
            <a:spAutoFit/>
          </a:bodyPr>
          <a:lstStyle/>
          <a:p>
            <a:pPr algn="l">
              <a:lnSpc>
                <a:spcPts val="3289"/>
              </a:lnSpc>
            </a:pPr>
            <a:r>
              <a:rPr lang="en-US" sz="3045" b="true">
                <a:solidFill>
                  <a:srgbClr val="464D50"/>
                </a:solidFill>
                <a:latin typeface="Montserrat Classic Bold"/>
                <a:ea typeface="Montserrat Classic Bold"/>
                <a:cs typeface="Montserrat Classic Bold"/>
                <a:sym typeface="Montserrat Classic Bold"/>
              </a:rPr>
              <a:t>Lagori Task Solution</a:t>
            </a:r>
          </a:p>
        </p:txBody>
      </p:sp>
      <p:sp>
        <p:nvSpPr>
          <p:cNvPr name="TextBox 55" id="55"/>
          <p:cNvSpPr txBox="true"/>
          <p:nvPr/>
        </p:nvSpPr>
        <p:spPr>
          <a:xfrm rot="0">
            <a:off x="893826" y="12057432"/>
            <a:ext cx="7596608" cy="2257901"/>
          </a:xfrm>
          <a:prstGeom prst="rect">
            <a:avLst/>
          </a:prstGeom>
        </p:spPr>
        <p:txBody>
          <a:bodyPr anchor="t" rtlCol="false" tIns="0" lIns="0" bIns="0" rIns="0">
            <a:spAutoFit/>
          </a:bodyPr>
          <a:lstStyle/>
          <a:p>
            <a:pPr algn="just">
              <a:lnSpc>
                <a:spcPts val="2598"/>
              </a:lnSpc>
            </a:pPr>
            <a:r>
              <a:rPr lang="en-US" sz="1856">
                <a:solidFill>
                  <a:srgbClr val="464D50"/>
                </a:solidFill>
                <a:latin typeface="Montserrat Classic"/>
                <a:ea typeface="Montserrat Classic"/>
                <a:cs typeface="Montserrat Classic"/>
                <a:sym typeface="Montserrat Classic"/>
              </a:rPr>
              <a:t>We have a sweeper-lifter connected to the back of the TR robot and an initially extended pneumatic cylinder. The sweeper sweeps the Lagori into the lifter, and when the pneumatic cylinder retracts, the lifter will be at a height above the Lagori base, whereas TR will move towards the base to drop the Lagori. A horizontal cylinder is attached at the back to strike as an additional force to push Lagori firmly onto the Lagori base.</a:t>
            </a:r>
          </a:p>
        </p:txBody>
      </p:sp>
      <p:sp>
        <p:nvSpPr>
          <p:cNvPr name="TextBox 56" id="56"/>
          <p:cNvSpPr txBox="true"/>
          <p:nvPr/>
        </p:nvSpPr>
        <p:spPr>
          <a:xfrm rot="0">
            <a:off x="15163085" y="11245296"/>
            <a:ext cx="1255038" cy="4210431"/>
          </a:xfrm>
          <a:prstGeom prst="rect">
            <a:avLst/>
          </a:prstGeom>
        </p:spPr>
        <p:txBody>
          <a:bodyPr anchor="t" rtlCol="false" tIns="0" lIns="0" bIns="0" rIns="0">
            <a:spAutoFit/>
          </a:bodyPr>
          <a:lstStyle/>
          <a:p>
            <a:pPr algn="ctr">
              <a:lnSpc>
                <a:spcPts val="2604"/>
              </a:lnSpc>
            </a:pPr>
            <a:r>
              <a:rPr lang="en-US" sz="1860">
                <a:solidFill>
                  <a:srgbClr val="464D50"/>
                </a:solidFill>
                <a:latin typeface="Montserrat Classic"/>
                <a:ea typeface="Montserrat Classic"/>
                <a:cs typeface="Montserrat Classic"/>
                <a:sym typeface="Montserrat Classic"/>
              </a:rPr>
              <a:t>Software</a:t>
            </a:r>
          </a:p>
          <a:p>
            <a:pPr algn="ctr">
              <a:lnSpc>
                <a:spcPts val="2604"/>
              </a:lnSpc>
            </a:pPr>
            <a:r>
              <a:rPr lang="en-US" sz="1860">
                <a:solidFill>
                  <a:srgbClr val="464D50"/>
                </a:solidFill>
                <a:latin typeface="Montserrat Classic"/>
                <a:ea typeface="Montserrat Classic"/>
                <a:cs typeface="Montserrat Classic"/>
                <a:sym typeface="Montserrat Classic"/>
              </a:rPr>
              <a:t>Software</a:t>
            </a:r>
          </a:p>
          <a:p>
            <a:pPr algn="ctr">
              <a:lnSpc>
                <a:spcPts val="2604"/>
              </a:lnSpc>
            </a:pPr>
            <a:r>
              <a:rPr lang="en-US" sz="1860">
                <a:solidFill>
                  <a:srgbClr val="464D50"/>
                </a:solidFill>
                <a:latin typeface="Montserrat Classic"/>
                <a:ea typeface="Montserrat Classic"/>
                <a:cs typeface="Montserrat Classic"/>
                <a:sym typeface="Montserrat Classic"/>
              </a:rPr>
              <a:t>Software</a:t>
            </a:r>
          </a:p>
          <a:p>
            <a:pPr algn="ctr">
              <a:lnSpc>
                <a:spcPts val="2604"/>
              </a:lnSpc>
            </a:pPr>
            <a:r>
              <a:rPr lang="en-US" sz="1860" spc="148">
                <a:solidFill>
                  <a:srgbClr val="464D50"/>
                </a:solidFill>
                <a:latin typeface="Montserrat Classic"/>
                <a:ea typeface="Montserrat Classic"/>
                <a:cs typeface="Montserrat Classic"/>
                <a:sym typeface="Montserrat Classic"/>
              </a:rPr>
              <a:t>Software</a:t>
            </a:r>
          </a:p>
          <a:p>
            <a:pPr algn="ctr">
              <a:lnSpc>
                <a:spcPts val="2604"/>
              </a:lnSpc>
            </a:pPr>
            <a:r>
              <a:rPr lang="en-US" sz="1860">
                <a:solidFill>
                  <a:srgbClr val="464D50"/>
                </a:solidFill>
                <a:latin typeface="Montserrat Classic"/>
                <a:ea typeface="Montserrat Classic"/>
                <a:cs typeface="Montserrat Classic"/>
                <a:sym typeface="Montserrat Classic"/>
              </a:rPr>
              <a:t>Hardware</a:t>
            </a:r>
          </a:p>
          <a:p>
            <a:pPr algn="ctr">
              <a:lnSpc>
                <a:spcPts val="2604"/>
              </a:lnSpc>
            </a:pPr>
            <a:r>
              <a:rPr lang="en-US" sz="1860">
                <a:solidFill>
                  <a:srgbClr val="464D50"/>
                </a:solidFill>
                <a:latin typeface="Montserrat Classic"/>
                <a:ea typeface="Montserrat Classic"/>
                <a:cs typeface="Montserrat Classic"/>
                <a:sym typeface="Montserrat Classic"/>
              </a:rPr>
              <a:t>Hardware</a:t>
            </a:r>
          </a:p>
          <a:p>
            <a:pPr algn="ctr">
              <a:lnSpc>
                <a:spcPts val="2604"/>
              </a:lnSpc>
            </a:pPr>
            <a:r>
              <a:rPr lang="en-US" sz="1860">
                <a:solidFill>
                  <a:srgbClr val="464D50"/>
                </a:solidFill>
                <a:latin typeface="Montserrat Classic"/>
                <a:ea typeface="Montserrat Classic"/>
                <a:cs typeface="Montserrat Classic"/>
                <a:sym typeface="Montserrat Classic"/>
              </a:rPr>
              <a:t>Hardware</a:t>
            </a:r>
          </a:p>
          <a:p>
            <a:pPr algn="ctr">
              <a:lnSpc>
                <a:spcPts val="2604"/>
              </a:lnSpc>
            </a:pPr>
            <a:r>
              <a:rPr lang="en-US" sz="1860">
                <a:solidFill>
                  <a:srgbClr val="464D50"/>
                </a:solidFill>
                <a:latin typeface="Montserrat Classic"/>
                <a:ea typeface="Montserrat Classic"/>
                <a:cs typeface="Montserrat Classic"/>
                <a:sym typeface="Montserrat Classic"/>
              </a:rPr>
              <a:t>Hardware</a:t>
            </a:r>
          </a:p>
          <a:p>
            <a:pPr algn="ctr">
              <a:lnSpc>
                <a:spcPts val="2604"/>
              </a:lnSpc>
            </a:pPr>
            <a:r>
              <a:rPr lang="en-US" sz="1860">
                <a:solidFill>
                  <a:srgbClr val="464D50"/>
                </a:solidFill>
                <a:latin typeface="Montserrat Classic"/>
                <a:ea typeface="Montserrat Classic"/>
                <a:cs typeface="Montserrat Classic"/>
                <a:sym typeface="Montserrat Classic"/>
              </a:rPr>
              <a:t>Hardware</a:t>
            </a:r>
          </a:p>
          <a:p>
            <a:pPr algn="ctr">
              <a:lnSpc>
                <a:spcPts val="2604"/>
              </a:lnSpc>
            </a:pPr>
            <a:r>
              <a:rPr lang="en-US" sz="1860">
                <a:solidFill>
                  <a:srgbClr val="464D50"/>
                </a:solidFill>
                <a:latin typeface="Montserrat Classic"/>
                <a:ea typeface="Montserrat Classic"/>
                <a:cs typeface="Montserrat Classic"/>
                <a:sym typeface="Montserrat Classic"/>
              </a:rPr>
              <a:t>Mechanics</a:t>
            </a:r>
          </a:p>
          <a:p>
            <a:pPr algn="ctr">
              <a:lnSpc>
                <a:spcPts val="2604"/>
              </a:lnSpc>
            </a:pPr>
            <a:r>
              <a:rPr lang="en-US" sz="1860">
                <a:solidFill>
                  <a:srgbClr val="464D50"/>
                </a:solidFill>
                <a:latin typeface="Montserrat Classic"/>
                <a:ea typeface="Montserrat Classic"/>
                <a:cs typeface="Montserrat Classic"/>
                <a:sym typeface="Montserrat Classic"/>
              </a:rPr>
              <a:t>Mechanics</a:t>
            </a:r>
          </a:p>
          <a:p>
            <a:pPr algn="ctr">
              <a:lnSpc>
                <a:spcPts val="2604"/>
              </a:lnSpc>
            </a:pPr>
            <a:r>
              <a:rPr lang="en-US" sz="1860">
                <a:solidFill>
                  <a:srgbClr val="464D50"/>
                </a:solidFill>
                <a:latin typeface="Montserrat Classic"/>
                <a:ea typeface="Montserrat Classic"/>
                <a:cs typeface="Montserrat Classic"/>
                <a:sym typeface="Montserrat Classic"/>
              </a:rPr>
              <a:t>Mechanics</a:t>
            </a:r>
          </a:p>
          <a:p>
            <a:pPr algn="ctr">
              <a:lnSpc>
                <a:spcPts val="2604"/>
              </a:lnSpc>
            </a:pPr>
          </a:p>
        </p:txBody>
      </p:sp>
      <p:sp>
        <p:nvSpPr>
          <p:cNvPr name="TextBox 57" id="57"/>
          <p:cNvSpPr txBox="true"/>
          <p:nvPr/>
        </p:nvSpPr>
        <p:spPr>
          <a:xfrm rot="0">
            <a:off x="16722923" y="11245296"/>
            <a:ext cx="720804" cy="4210431"/>
          </a:xfrm>
          <a:prstGeom prst="rect">
            <a:avLst/>
          </a:prstGeom>
        </p:spPr>
        <p:txBody>
          <a:bodyPr anchor="t" rtlCol="false" tIns="0" lIns="0" bIns="0" rIns="0">
            <a:spAutoFit/>
          </a:bodyPr>
          <a:lstStyle/>
          <a:p>
            <a:pPr algn="l">
              <a:lnSpc>
                <a:spcPts val="2604"/>
              </a:lnSpc>
            </a:pPr>
            <a:r>
              <a:rPr lang="en-US" sz="1860">
                <a:solidFill>
                  <a:srgbClr val="464D50"/>
                </a:solidFill>
                <a:latin typeface="Montserrat Classic"/>
                <a:ea typeface="Montserrat Classic"/>
                <a:cs typeface="Montserrat Classic"/>
                <a:sym typeface="Montserrat Classic"/>
              </a:rPr>
              <a:t>Year 2</a:t>
            </a:r>
          </a:p>
          <a:p>
            <a:pPr algn="l">
              <a:lnSpc>
                <a:spcPts val="2604"/>
              </a:lnSpc>
            </a:pPr>
            <a:r>
              <a:rPr lang="en-US" sz="1860">
                <a:solidFill>
                  <a:srgbClr val="464D50"/>
                </a:solidFill>
                <a:latin typeface="Montserrat Classic"/>
                <a:ea typeface="Montserrat Classic"/>
                <a:cs typeface="Montserrat Classic"/>
                <a:sym typeface="Montserrat Classic"/>
              </a:rPr>
              <a:t>Year 1</a:t>
            </a:r>
          </a:p>
          <a:p>
            <a:pPr algn="l">
              <a:lnSpc>
                <a:spcPts val="2604"/>
              </a:lnSpc>
            </a:pPr>
            <a:r>
              <a:rPr lang="en-US" sz="1860">
                <a:solidFill>
                  <a:srgbClr val="464D50"/>
                </a:solidFill>
                <a:latin typeface="Montserrat Classic"/>
                <a:ea typeface="Montserrat Classic"/>
                <a:cs typeface="Montserrat Classic"/>
                <a:sym typeface="Montserrat Classic"/>
              </a:rPr>
              <a:t>Year 2</a:t>
            </a:r>
          </a:p>
          <a:p>
            <a:pPr algn="l">
              <a:lnSpc>
                <a:spcPts val="2604"/>
              </a:lnSpc>
            </a:pPr>
            <a:r>
              <a:rPr lang="en-US" sz="1860">
                <a:solidFill>
                  <a:srgbClr val="464D50"/>
                </a:solidFill>
                <a:latin typeface="Montserrat Classic"/>
                <a:ea typeface="Montserrat Classic"/>
                <a:cs typeface="Montserrat Classic"/>
                <a:sym typeface="Montserrat Classic"/>
              </a:rPr>
              <a:t>Year 1</a:t>
            </a:r>
          </a:p>
          <a:p>
            <a:pPr algn="l">
              <a:lnSpc>
                <a:spcPts val="2604"/>
              </a:lnSpc>
            </a:pPr>
            <a:r>
              <a:rPr lang="en-US" sz="1860">
                <a:solidFill>
                  <a:srgbClr val="464D50"/>
                </a:solidFill>
                <a:latin typeface="Montserrat Classic"/>
                <a:ea typeface="Montserrat Classic"/>
                <a:cs typeface="Montserrat Classic"/>
                <a:sym typeface="Montserrat Classic"/>
              </a:rPr>
              <a:t>Year 2</a:t>
            </a:r>
          </a:p>
          <a:p>
            <a:pPr algn="l">
              <a:lnSpc>
                <a:spcPts val="2604"/>
              </a:lnSpc>
            </a:pPr>
            <a:r>
              <a:rPr lang="en-US" sz="1860">
                <a:solidFill>
                  <a:srgbClr val="464D50"/>
                </a:solidFill>
                <a:latin typeface="Montserrat Classic"/>
                <a:ea typeface="Montserrat Classic"/>
                <a:cs typeface="Montserrat Classic"/>
                <a:sym typeface="Montserrat Classic"/>
              </a:rPr>
              <a:t>Year 1</a:t>
            </a:r>
          </a:p>
          <a:p>
            <a:pPr algn="l">
              <a:lnSpc>
                <a:spcPts val="2604"/>
              </a:lnSpc>
            </a:pPr>
            <a:r>
              <a:rPr lang="en-US" sz="1860">
                <a:solidFill>
                  <a:srgbClr val="464D50"/>
                </a:solidFill>
                <a:latin typeface="Montserrat Classic"/>
                <a:ea typeface="Montserrat Classic"/>
                <a:cs typeface="Montserrat Classic"/>
                <a:sym typeface="Montserrat Classic"/>
              </a:rPr>
              <a:t>Year 1</a:t>
            </a:r>
          </a:p>
          <a:p>
            <a:pPr algn="l">
              <a:lnSpc>
                <a:spcPts val="2604"/>
              </a:lnSpc>
            </a:pPr>
            <a:r>
              <a:rPr lang="en-US" sz="1860">
                <a:solidFill>
                  <a:srgbClr val="464D50"/>
                </a:solidFill>
                <a:latin typeface="Montserrat Classic"/>
                <a:ea typeface="Montserrat Classic"/>
                <a:cs typeface="Montserrat Classic"/>
                <a:sym typeface="Montserrat Classic"/>
              </a:rPr>
              <a:t>Year 3</a:t>
            </a:r>
          </a:p>
          <a:p>
            <a:pPr algn="l">
              <a:lnSpc>
                <a:spcPts val="2604"/>
              </a:lnSpc>
            </a:pPr>
            <a:r>
              <a:rPr lang="en-US" sz="1860">
                <a:solidFill>
                  <a:srgbClr val="464D50"/>
                </a:solidFill>
                <a:latin typeface="Montserrat Classic"/>
                <a:ea typeface="Montserrat Classic"/>
                <a:cs typeface="Montserrat Classic"/>
                <a:sym typeface="Montserrat Classic"/>
              </a:rPr>
              <a:t>Year 3</a:t>
            </a:r>
          </a:p>
          <a:p>
            <a:pPr algn="l">
              <a:lnSpc>
                <a:spcPts val="2604"/>
              </a:lnSpc>
            </a:pPr>
            <a:r>
              <a:rPr lang="en-US" sz="1860">
                <a:solidFill>
                  <a:srgbClr val="464D50"/>
                </a:solidFill>
                <a:latin typeface="Montserrat Classic"/>
                <a:ea typeface="Montserrat Classic"/>
                <a:cs typeface="Montserrat Classic"/>
                <a:sym typeface="Montserrat Classic"/>
              </a:rPr>
              <a:t>Year 1</a:t>
            </a:r>
          </a:p>
          <a:p>
            <a:pPr algn="l">
              <a:lnSpc>
                <a:spcPts val="2604"/>
              </a:lnSpc>
            </a:pPr>
            <a:r>
              <a:rPr lang="en-US" sz="1860">
                <a:solidFill>
                  <a:srgbClr val="464D50"/>
                </a:solidFill>
                <a:latin typeface="Montserrat Classic"/>
                <a:ea typeface="Montserrat Classic"/>
                <a:cs typeface="Montserrat Classic"/>
                <a:sym typeface="Montserrat Classic"/>
              </a:rPr>
              <a:t>Year 2</a:t>
            </a:r>
          </a:p>
          <a:p>
            <a:pPr algn="l">
              <a:lnSpc>
                <a:spcPts val="2604"/>
              </a:lnSpc>
            </a:pPr>
            <a:r>
              <a:rPr lang="en-US" sz="1860">
                <a:solidFill>
                  <a:srgbClr val="464D50"/>
                </a:solidFill>
                <a:latin typeface="Montserrat Classic"/>
                <a:ea typeface="Montserrat Classic"/>
                <a:cs typeface="Montserrat Classic"/>
                <a:sym typeface="Montserrat Classic"/>
              </a:rPr>
              <a:t>Year 2</a:t>
            </a:r>
          </a:p>
          <a:p>
            <a:pPr algn="l">
              <a:lnSpc>
                <a:spcPts val="2604"/>
              </a:lnSpc>
            </a:pPr>
          </a:p>
        </p:txBody>
      </p:sp>
      <p:sp>
        <p:nvSpPr>
          <p:cNvPr name="TextBox 58" id="58"/>
          <p:cNvSpPr txBox="true"/>
          <p:nvPr/>
        </p:nvSpPr>
        <p:spPr>
          <a:xfrm rot="0">
            <a:off x="17748528" y="11245296"/>
            <a:ext cx="724972" cy="3886581"/>
          </a:xfrm>
          <a:prstGeom prst="rect">
            <a:avLst/>
          </a:prstGeom>
        </p:spPr>
        <p:txBody>
          <a:bodyPr anchor="t" rtlCol="false" tIns="0" lIns="0" bIns="0" rIns="0">
            <a:spAutoFit/>
          </a:bodyPr>
          <a:lstStyle/>
          <a:p>
            <a:pPr algn="l">
              <a:lnSpc>
                <a:spcPts val="2604"/>
              </a:lnSpc>
            </a:pPr>
            <a:r>
              <a:rPr lang="en-US" sz="1860">
                <a:solidFill>
                  <a:srgbClr val="464D50"/>
                </a:solidFill>
                <a:latin typeface="Montserrat Classic"/>
                <a:ea typeface="Montserrat Classic"/>
                <a:cs typeface="Montserrat Classic"/>
                <a:sym typeface="Montserrat Classic"/>
              </a:rPr>
              <a:t>CPEG</a:t>
            </a:r>
          </a:p>
          <a:p>
            <a:pPr algn="l">
              <a:lnSpc>
                <a:spcPts val="2604"/>
              </a:lnSpc>
            </a:pPr>
            <a:r>
              <a:rPr lang="en-US" sz="1860">
                <a:solidFill>
                  <a:srgbClr val="464D50"/>
                </a:solidFill>
                <a:latin typeface="Montserrat Classic"/>
                <a:ea typeface="Montserrat Classic"/>
                <a:cs typeface="Montserrat Classic"/>
                <a:sym typeface="Montserrat Classic"/>
              </a:rPr>
              <a:t>SENG</a:t>
            </a:r>
          </a:p>
          <a:p>
            <a:pPr algn="l">
              <a:lnSpc>
                <a:spcPts val="2604"/>
              </a:lnSpc>
            </a:pPr>
            <a:r>
              <a:rPr lang="en-US" sz="1860">
                <a:solidFill>
                  <a:srgbClr val="464D50"/>
                </a:solidFill>
                <a:latin typeface="Montserrat Classic"/>
                <a:ea typeface="Montserrat Classic"/>
                <a:cs typeface="Montserrat Classic"/>
                <a:sym typeface="Montserrat Classic"/>
              </a:rPr>
              <a:t>MATH</a:t>
            </a:r>
          </a:p>
          <a:p>
            <a:pPr algn="l">
              <a:lnSpc>
                <a:spcPts val="2604"/>
              </a:lnSpc>
            </a:pPr>
            <a:r>
              <a:rPr lang="en-US" sz="1860">
                <a:solidFill>
                  <a:srgbClr val="464D50"/>
                </a:solidFill>
                <a:latin typeface="Montserrat Classic"/>
                <a:ea typeface="Montserrat Classic"/>
                <a:cs typeface="Montserrat Classic"/>
                <a:sym typeface="Montserrat Classic"/>
              </a:rPr>
              <a:t>SENG</a:t>
            </a:r>
          </a:p>
          <a:p>
            <a:pPr algn="l">
              <a:lnSpc>
                <a:spcPts val="2604"/>
              </a:lnSpc>
            </a:pPr>
            <a:r>
              <a:rPr lang="en-US" sz="1860">
                <a:solidFill>
                  <a:srgbClr val="464D50"/>
                </a:solidFill>
                <a:latin typeface="Montserrat Classic"/>
                <a:ea typeface="Montserrat Classic"/>
                <a:cs typeface="Montserrat Classic"/>
                <a:sym typeface="Montserrat Classic"/>
              </a:rPr>
              <a:t>CPEG</a:t>
            </a:r>
          </a:p>
          <a:p>
            <a:pPr algn="l">
              <a:lnSpc>
                <a:spcPts val="2604"/>
              </a:lnSpc>
            </a:pPr>
            <a:r>
              <a:rPr lang="en-US" sz="1860">
                <a:solidFill>
                  <a:srgbClr val="464D50"/>
                </a:solidFill>
                <a:latin typeface="Montserrat Classic"/>
                <a:ea typeface="Montserrat Classic"/>
                <a:cs typeface="Montserrat Classic"/>
                <a:sym typeface="Montserrat Classic"/>
              </a:rPr>
              <a:t>SENG</a:t>
            </a:r>
          </a:p>
          <a:p>
            <a:pPr algn="l">
              <a:lnSpc>
                <a:spcPts val="2604"/>
              </a:lnSpc>
            </a:pPr>
            <a:r>
              <a:rPr lang="en-US" sz="1860">
                <a:solidFill>
                  <a:srgbClr val="464D50"/>
                </a:solidFill>
                <a:latin typeface="Montserrat Classic"/>
                <a:ea typeface="Montserrat Classic"/>
                <a:cs typeface="Montserrat Classic"/>
                <a:sym typeface="Montserrat Classic"/>
              </a:rPr>
              <a:t>SENG</a:t>
            </a:r>
          </a:p>
          <a:p>
            <a:pPr algn="l">
              <a:lnSpc>
                <a:spcPts val="2604"/>
              </a:lnSpc>
            </a:pPr>
            <a:r>
              <a:rPr lang="en-US" sz="1860">
                <a:solidFill>
                  <a:srgbClr val="464D50"/>
                </a:solidFill>
                <a:latin typeface="Montserrat Classic"/>
                <a:ea typeface="Montserrat Classic"/>
                <a:cs typeface="Montserrat Classic"/>
                <a:sym typeface="Montserrat Classic"/>
              </a:rPr>
              <a:t>ELEC</a:t>
            </a:r>
          </a:p>
          <a:p>
            <a:pPr algn="l">
              <a:lnSpc>
                <a:spcPts val="2604"/>
              </a:lnSpc>
            </a:pPr>
            <a:r>
              <a:rPr lang="en-US" sz="1860">
                <a:solidFill>
                  <a:srgbClr val="464D50"/>
                </a:solidFill>
                <a:latin typeface="Montserrat Classic"/>
                <a:ea typeface="Montserrat Classic"/>
                <a:cs typeface="Montserrat Classic"/>
                <a:sym typeface="Montserrat Classic"/>
              </a:rPr>
              <a:t>PHYS</a:t>
            </a:r>
          </a:p>
          <a:p>
            <a:pPr algn="l">
              <a:lnSpc>
                <a:spcPts val="2604"/>
              </a:lnSpc>
            </a:pPr>
            <a:r>
              <a:rPr lang="en-US" sz="1860">
                <a:solidFill>
                  <a:srgbClr val="464D50"/>
                </a:solidFill>
                <a:latin typeface="Montserrat Classic"/>
                <a:ea typeface="Montserrat Classic"/>
                <a:cs typeface="Montserrat Classic"/>
                <a:sym typeface="Montserrat Classic"/>
              </a:rPr>
              <a:t>SENG</a:t>
            </a:r>
          </a:p>
          <a:p>
            <a:pPr algn="l">
              <a:lnSpc>
                <a:spcPts val="2604"/>
              </a:lnSpc>
            </a:pPr>
            <a:r>
              <a:rPr lang="en-US" sz="1860">
                <a:solidFill>
                  <a:srgbClr val="464D50"/>
                </a:solidFill>
                <a:latin typeface="Montserrat Classic"/>
                <a:ea typeface="Montserrat Classic"/>
                <a:cs typeface="Montserrat Classic"/>
                <a:sym typeface="Montserrat Classic"/>
              </a:rPr>
              <a:t>MECH</a:t>
            </a:r>
          </a:p>
          <a:p>
            <a:pPr algn="l">
              <a:lnSpc>
                <a:spcPts val="2604"/>
              </a:lnSpc>
            </a:pPr>
            <a:r>
              <a:rPr lang="en-US" sz="1860">
                <a:solidFill>
                  <a:srgbClr val="464D50"/>
                </a:solidFill>
                <a:latin typeface="Montserrat Classic"/>
                <a:ea typeface="Montserrat Classic"/>
                <a:cs typeface="Montserrat Classic"/>
                <a:sym typeface="Montserrat Classic"/>
              </a:rPr>
              <a:t>MECH</a:t>
            </a:r>
          </a:p>
        </p:txBody>
      </p:sp>
      <p:sp>
        <p:nvSpPr>
          <p:cNvPr name="TextBox 59" id="59"/>
          <p:cNvSpPr txBox="true"/>
          <p:nvPr/>
        </p:nvSpPr>
        <p:spPr>
          <a:xfrm rot="0">
            <a:off x="17054504" y="15896658"/>
            <a:ext cx="1418995" cy="1295781"/>
          </a:xfrm>
          <a:prstGeom prst="rect">
            <a:avLst/>
          </a:prstGeom>
        </p:spPr>
        <p:txBody>
          <a:bodyPr anchor="t" rtlCol="false" tIns="0" lIns="0" bIns="0" rIns="0">
            <a:spAutoFit/>
          </a:bodyPr>
          <a:lstStyle/>
          <a:p>
            <a:pPr algn="l">
              <a:lnSpc>
                <a:spcPts val="2604"/>
              </a:lnSpc>
            </a:pPr>
            <a:r>
              <a:rPr lang="en-US" sz="1860">
                <a:solidFill>
                  <a:srgbClr val="464D50"/>
                </a:solidFill>
                <a:latin typeface="Montserrat Classic"/>
                <a:ea typeface="Montserrat Classic"/>
                <a:cs typeface="Montserrat Classic"/>
                <a:sym typeface="Montserrat Classic"/>
              </a:rPr>
              <a:t> Robocon</a:t>
            </a:r>
          </a:p>
          <a:p>
            <a:pPr algn="l">
              <a:lnSpc>
                <a:spcPts val="2604"/>
              </a:lnSpc>
            </a:pPr>
            <a:r>
              <a:rPr lang="en-US" sz="1860">
                <a:solidFill>
                  <a:srgbClr val="464D50"/>
                </a:solidFill>
                <a:latin typeface="Montserrat Classic"/>
                <a:ea typeface="Montserrat Classic"/>
                <a:cs typeface="Montserrat Classic"/>
                <a:sym typeface="Montserrat Classic"/>
              </a:rPr>
              <a:t> Robocon</a:t>
            </a:r>
          </a:p>
          <a:p>
            <a:pPr algn="l">
              <a:lnSpc>
                <a:spcPts val="2604"/>
              </a:lnSpc>
            </a:pPr>
            <a:r>
              <a:rPr lang="en-US" sz="1860">
                <a:solidFill>
                  <a:srgbClr val="464D50"/>
                </a:solidFill>
                <a:latin typeface="Montserrat Classic"/>
                <a:ea typeface="Montserrat Classic"/>
                <a:cs typeface="Montserrat Classic"/>
                <a:sym typeface="Montserrat Classic"/>
              </a:rPr>
              <a:t> Humanoid</a:t>
            </a:r>
          </a:p>
          <a:p>
            <a:pPr algn="l">
              <a:lnSpc>
                <a:spcPts val="2604"/>
              </a:lnSpc>
            </a:pPr>
            <a:r>
              <a:rPr lang="en-US" sz="1860">
                <a:solidFill>
                  <a:srgbClr val="464D50"/>
                </a:solidFill>
                <a:latin typeface="Montserrat Classic"/>
                <a:ea typeface="Montserrat Classic"/>
                <a:cs typeface="Montserrat Classic"/>
                <a:sym typeface="Montserrat Classic"/>
              </a:rPr>
              <a:t> Robocon</a:t>
            </a:r>
          </a:p>
        </p:txBody>
      </p:sp>
      <p:sp>
        <p:nvSpPr>
          <p:cNvPr name="TextBox 60" id="60"/>
          <p:cNvSpPr txBox="true"/>
          <p:nvPr/>
        </p:nvSpPr>
        <p:spPr>
          <a:xfrm rot="0">
            <a:off x="15183785" y="15896658"/>
            <a:ext cx="1539139" cy="1295781"/>
          </a:xfrm>
          <a:prstGeom prst="rect">
            <a:avLst/>
          </a:prstGeom>
        </p:spPr>
        <p:txBody>
          <a:bodyPr anchor="t" rtlCol="false" tIns="0" lIns="0" bIns="0" rIns="0">
            <a:spAutoFit/>
          </a:bodyPr>
          <a:lstStyle/>
          <a:p>
            <a:pPr algn="l">
              <a:lnSpc>
                <a:spcPts val="2604"/>
              </a:lnSpc>
            </a:pPr>
            <a:r>
              <a:rPr lang="en-US" sz="1860">
                <a:solidFill>
                  <a:srgbClr val="464D50"/>
                </a:solidFill>
                <a:latin typeface="Montserrat Classic"/>
                <a:ea typeface="Montserrat Classic"/>
                <a:cs typeface="Montserrat Classic"/>
                <a:sym typeface="Montserrat Classic"/>
              </a:rPr>
              <a:t>Software</a:t>
            </a:r>
          </a:p>
          <a:p>
            <a:pPr algn="l">
              <a:lnSpc>
                <a:spcPts val="2604"/>
              </a:lnSpc>
            </a:pPr>
            <a:r>
              <a:rPr lang="en-US" sz="1860">
                <a:solidFill>
                  <a:srgbClr val="464D50"/>
                </a:solidFill>
                <a:latin typeface="Montserrat Classic"/>
                <a:ea typeface="Montserrat Classic"/>
                <a:cs typeface="Montserrat Classic"/>
                <a:sym typeface="Montserrat Classic"/>
              </a:rPr>
              <a:t>Hardware</a:t>
            </a:r>
          </a:p>
          <a:p>
            <a:pPr algn="l">
              <a:lnSpc>
                <a:spcPts val="2604"/>
              </a:lnSpc>
            </a:pPr>
            <a:r>
              <a:rPr lang="en-US" sz="1860">
                <a:solidFill>
                  <a:srgbClr val="464D50"/>
                </a:solidFill>
                <a:latin typeface="Montserrat Classic"/>
                <a:ea typeface="Montserrat Classic"/>
                <a:cs typeface="Montserrat Classic"/>
                <a:sym typeface="Montserrat Classic"/>
              </a:rPr>
              <a:t>Hardware</a:t>
            </a:r>
          </a:p>
          <a:p>
            <a:pPr algn="l">
              <a:lnSpc>
                <a:spcPts val="2604"/>
              </a:lnSpc>
            </a:pPr>
            <a:r>
              <a:rPr lang="en-US" sz="1860">
                <a:solidFill>
                  <a:srgbClr val="464D50"/>
                </a:solidFill>
                <a:latin typeface="Montserrat Classic"/>
                <a:ea typeface="Montserrat Classic"/>
                <a:cs typeface="Montserrat Classic"/>
                <a:sym typeface="Montserrat Classic"/>
              </a:rPr>
              <a:t>Mechanics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DAFU6DjeabQ</dc:identifier>
  <dcterms:modified xsi:type="dcterms:W3CDTF">2011-08-01T06:04:30Z</dcterms:modified>
  <cp:revision>1</cp:revision>
  <dc:title>Fibotics Poster (real A1 size)</dc:title>
</cp:coreProperties>
</file>